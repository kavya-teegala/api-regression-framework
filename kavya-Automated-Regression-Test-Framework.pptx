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60" r:id="rId5"/>
    <p:sldId id="261" r:id="rId6"/>
    <p:sldId id="262" r:id="rId7"/>
    <p:sldId id="263" r:id="rId8"/>
    <p:sldId id="264" r:id="rId9"/>
    <p:sldId id="266" r:id="rId10"/>
    <p:sldId id="267" r:id="rId11"/>
  </p:sldIdLst>
  <p:sldSz cx="14630400" cy="8229600"/>
  <p:notesSz cx="8229600" cy="14630400"/>
  <p:embeddedFontLst>
    <p:embeddedFont>
      <p:font typeface="Lora" pitchFamily="2" charset="0"/>
      <p:regular r:id="rId13"/>
      <p:bold r:id="rId14"/>
      <p:italic r:id="rId15"/>
      <p:boldItalic r:id="rId16"/>
    </p:embeddedFont>
    <p:embeddedFont>
      <p:font typeface="Palatino Linotype" panose="02040502050505030304" pitchFamily="18" charset="0"/>
      <p:regular r:id="rId17"/>
      <p:bold r:id="rId18"/>
      <p:italic r:id="rId19"/>
      <p:boldItalic r:id="rId20"/>
    </p:embeddedFont>
    <p:embeddedFont>
      <p:font typeface="Prata" panose="020B0604020202020204" charset="0"/>
      <p:regular r:id="rId21"/>
    </p:embeddedFont>
    <p:embeddedFont>
      <p:font typeface="PT Serif" panose="020A0603040505020204" pitchFamily="18"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p:scale>
          <a:sx n="75" d="100"/>
          <a:sy n="75" d="100"/>
        </p:scale>
        <p:origin x="37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6072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FFFFF"/>
          </a:solidFill>
          <a:ln/>
        </p:spPr>
      </p:sp>
      <p:sp>
        <p:nvSpPr>
          <p:cNvPr id="3" name="Shape 1"/>
          <p:cNvSpPr/>
          <p:nvPr/>
        </p:nvSpPr>
        <p:spPr>
          <a:xfrm>
            <a:off x="0" y="0"/>
            <a:ext cx="14630400" cy="8229600"/>
          </a:xfrm>
          <a:prstGeom prst="rect">
            <a:avLst/>
          </a:prstGeom>
          <a:solidFill>
            <a:srgbClr val="FCFAD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sv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7.svg"/><Relationship Id="rId4" Type="http://schemas.openxmlformats.org/officeDocument/2006/relationships/image" Target="../media/image6.svg"/><Relationship Id="rId9" Type="http://schemas.microsoft.com/office/2007/relationships/hdphoto" Target="../media/hdphoto2.wdp"/></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sv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20.png"/><Relationship Id="rId9" Type="http://schemas.microsoft.com/office/2007/relationships/hdphoto" Target="../media/hdphoto3.wdp"/></Relationships>
</file>

<file path=ppt/slides/_rels/slide9.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Effect>
                      <a14:saturation sat="66000"/>
                    </a14:imgEffect>
                  </a14:imgLayer>
                </a14:imgProps>
              </a:ext>
            </a:extLst>
          </a:blip>
          <a:srcRect l="4345" t="4625" r="3777" b="5225"/>
          <a:stretch>
            <a:fillRect/>
          </a:stretch>
        </p:blipFill>
        <p:spPr>
          <a:xfrm>
            <a:off x="625033" y="1290577"/>
            <a:ext cx="5377926" cy="5648446"/>
          </a:xfrm>
          <a:prstGeom prst="rect">
            <a:avLst/>
          </a:prstGeom>
          <a:solidFill>
            <a:srgbClr val="FFFFFF">
              <a:shade val="85000"/>
            </a:srgbClr>
          </a:solidFill>
          <a:ln w="88900" cap="sq">
            <a:noFill/>
            <a:miter lim="800000"/>
          </a:ln>
          <a:effectLst/>
          <a:scene3d>
            <a:camera prst="orthographicFront">
              <a:rot lat="0" lon="0" rev="0"/>
            </a:camera>
            <a:lightRig rig="contrasting" dir="t">
              <a:rot lat="0" lon="0" rev="7800000"/>
            </a:lightRig>
          </a:scene3d>
          <a:sp3d>
            <a:bevelT w="139700" h="139700"/>
          </a:sp3d>
        </p:spPr>
      </p:pic>
      <p:sp>
        <p:nvSpPr>
          <p:cNvPr id="4" name="Text 0"/>
          <p:cNvSpPr/>
          <p:nvPr/>
        </p:nvSpPr>
        <p:spPr>
          <a:xfrm>
            <a:off x="6154004" y="278376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33E32"/>
                </a:solidFill>
                <a:latin typeface="Prata" pitchFamily="34" charset="0"/>
                <a:ea typeface="Prata" pitchFamily="34" charset="-122"/>
                <a:cs typeface="Prata" pitchFamily="34" charset="-120"/>
              </a:rPr>
              <a:t>Automated Regression Test Framework</a:t>
            </a:r>
            <a:endParaRPr lang="en-US" sz="4450" dirty="0"/>
          </a:p>
        </p:txBody>
      </p:sp>
      <p:sp>
        <p:nvSpPr>
          <p:cNvPr id="5" name="Text 1"/>
          <p:cNvSpPr/>
          <p:nvPr/>
        </p:nvSpPr>
        <p:spPr>
          <a:xfrm>
            <a:off x="6154003" y="4267795"/>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A scalable, Java-based framework designed to automate regression testing, reduce manual effort, and provide reliable results across UI and API layers.</a:t>
            </a:r>
            <a:endParaRPr lang="en-US" sz="1750" dirty="0"/>
          </a:p>
        </p:txBody>
      </p:sp>
      <p:pic>
        <p:nvPicPr>
          <p:cNvPr id="7" name="Picture 6">
            <a:extLst>
              <a:ext uri="{FF2B5EF4-FFF2-40B4-BE49-F238E27FC236}">
                <a16:creationId xmlns:a16="http://schemas.microsoft.com/office/drawing/2014/main" id="{1CFDE096-EB39-6556-A130-A82EA0A740DC}"/>
              </a:ext>
            </a:extLst>
          </p:cNvPr>
          <p:cNvPicPr>
            <a:picLocks noChangeAspect="1"/>
          </p:cNvPicPr>
          <p:nvPr/>
        </p:nvPicPr>
        <p:blipFill>
          <a:blip r:embed="rId5"/>
          <a:stretch>
            <a:fillRect/>
          </a:stretch>
        </p:blipFill>
        <p:spPr>
          <a:xfrm>
            <a:off x="12790450" y="7660888"/>
            <a:ext cx="1839950" cy="568711"/>
          </a:xfrm>
          <a:prstGeom prst="rect">
            <a:avLst/>
          </a:prstGeom>
        </p:spPr>
      </p:pic>
      <p:pic>
        <p:nvPicPr>
          <p:cNvPr id="8" name="Picture 7">
            <a:extLst>
              <a:ext uri="{FF2B5EF4-FFF2-40B4-BE49-F238E27FC236}">
                <a16:creationId xmlns:a16="http://schemas.microsoft.com/office/drawing/2014/main" id="{3127E0C5-34C1-CC0C-9D67-29A9283E6A3C}"/>
              </a:ext>
            </a:extLst>
          </p:cNvPr>
          <p:cNvPicPr>
            <a:picLocks noChangeAspect="1"/>
          </p:cNvPicPr>
          <p:nvPr/>
        </p:nvPicPr>
        <p:blipFill>
          <a:blip r:embed="rId6"/>
          <a:stretch>
            <a:fillRect/>
          </a:stretch>
        </p:blipFill>
        <p:spPr>
          <a:xfrm>
            <a:off x="12328803" y="149948"/>
            <a:ext cx="2105319" cy="13622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57960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33E32"/>
                </a:solidFill>
                <a:latin typeface="Prata" pitchFamily="34" charset="0"/>
                <a:ea typeface="Prata" pitchFamily="34" charset="-122"/>
                <a:cs typeface="Prata" pitchFamily="34" charset="-120"/>
              </a:rPr>
              <a:t>Introduction</a:t>
            </a:r>
            <a:endParaRPr lang="en-US" sz="4450" dirty="0"/>
          </a:p>
        </p:txBody>
      </p:sp>
      <p:sp>
        <p:nvSpPr>
          <p:cNvPr id="3" name="Shape 1"/>
          <p:cNvSpPr/>
          <p:nvPr/>
        </p:nvSpPr>
        <p:spPr>
          <a:xfrm>
            <a:off x="793790" y="2883694"/>
            <a:ext cx="6244709" cy="3431738"/>
          </a:xfrm>
          <a:prstGeom prst="roundRect">
            <a:avLst>
              <a:gd name="adj" fmla="val 4263"/>
            </a:avLst>
          </a:prstGeom>
          <a:solidFill>
            <a:srgbClr val="FCFAD5"/>
          </a:solidFill>
          <a:ln w="30480">
            <a:solidFill>
              <a:srgbClr val="D9D6A6"/>
            </a:solidFill>
            <a:prstDash val="solid"/>
          </a:ln>
        </p:spPr>
      </p:sp>
      <p:sp>
        <p:nvSpPr>
          <p:cNvPr id="4" name="Shape 2"/>
          <p:cNvSpPr/>
          <p:nvPr/>
        </p:nvSpPr>
        <p:spPr>
          <a:xfrm>
            <a:off x="763310" y="2883694"/>
            <a:ext cx="121920" cy="3431738"/>
          </a:xfrm>
          <a:prstGeom prst="roundRect">
            <a:avLst>
              <a:gd name="adj" fmla="val 27907"/>
            </a:avLst>
          </a:prstGeom>
          <a:solidFill>
            <a:srgbClr val="23854E"/>
          </a:solidFill>
          <a:ln/>
        </p:spPr>
      </p:sp>
      <p:sp>
        <p:nvSpPr>
          <p:cNvPr id="5" name="Text 3"/>
          <p:cNvSpPr/>
          <p:nvPr/>
        </p:nvSpPr>
        <p:spPr>
          <a:xfrm>
            <a:off x="1142524" y="314098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Problem Statement</a:t>
            </a:r>
            <a:endParaRPr lang="en-US" sz="2200" dirty="0"/>
          </a:p>
        </p:txBody>
      </p:sp>
      <p:sp>
        <p:nvSpPr>
          <p:cNvPr id="6" name="Text 4"/>
          <p:cNvSpPr/>
          <p:nvPr/>
        </p:nvSpPr>
        <p:spPr>
          <a:xfrm>
            <a:off x="1142524" y="3722132"/>
            <a:ext cx="5638681" cy="2336006"/>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C2821"/>
                </a:solidFill>
                <a:latin typeface="PT Serif" pitchFamily="34" charset="0"/>
                <a:ea typeface="PT Serif" pitchFamily="34" charset="-122"/>
                <a:cs typeface="PT Serif" pitchFamily="34" charset="-120"/>
              </a:rPr>
              <a:t>Manual regression testing is time-consuming and prone to human error</a:t>
            </a:r>
            <a:endParaRPr lang="en-US" sz="1750" dirty="0"/>
          </a:p>
          <a:p>
            <a:pPr marL="342900" indent="-342900" algn="l">
              <a:lnSpc>
                <a:spcPts val="2850"/>
              </a:lnSpc>
              <a:buSzPct val="100000"/>
              <a:buChar char="•"/>
            </a:pPr>
            <a:r>
              <a:rPr lang="en-US" sz="1750" dirty="0">
                <a:solidFill>
                  <a:srgbClr val="2C2821"/>
                </a:solidFill>
                <a:latin typeface="PT Serif" pitchFamily="34" charset="0"/>
                <a:ea typeface="PT Serif" pitchFamily="34" charset="-122"/>
                <a:cs typeface="PT Serif" pitchFamily="34" charset="-120"/>
              </a:rPr>
              <a:t>Repetitive test execution across multiple builds reduces efficiency</a:t>
            </a:r>
            <a:endParaRPr lang="en-US" sz="1750" dirty="0"/>
          </a:p>
          <a:p>
            <a:pPr marL="342900" indent="-342900" algn="l">
              <a:lnSpc>
                <a:spcPts val="2850"/>
              </a:lnSpc>
              <a:buSzPct val="100000"/>
              <a:buChar char="•"/>
            </a:pPr>
            <a:r>
              <a:rPr lang="en-US" sz="1750" dirty="0">
                <a:solidFill>
                  <a:srgbClr val="2C2821"/>
                </a:solidFill>
                <a:latin typeface="PT Serif" pitchFamily="34" charset="0"/>
                <a:ea typeface="PT Serif" pitchFamily="34" charset="-122"/>
                <a:cs typeface="PT Serif" pitchFamily="34" charset="-120"/>
              </a:rPr>
              <a:t>Difficult to scale testing as application complexity increases</a:t>
            </a:r>
            <a:endParaRPr lang="en-US" sz="1750" dirty="0"/>
          </a:p>
        </p:txBody>
      </p:sp>
      <p:sp>
        <p:nvSpPr>
          <p:cNvPr id="7" name="Shape 5"/>
          <p:cNvSpPr/>
          <p:nvPr/>
        </p:nvSpPr>
        <p:spPr>
          <a:xfrm>
            <a:off x="7599521" y="2883694"/>
            <a:ext cx="6244709" cy="3511034"/>
          </a:xfrm>
          <a:prstGeom prst="roundRect">
            <a:avLst>
              <a:gd name="adj" fmla="val 4167"/>
            </a:avLst>
          </a:prstGeom>
          <a:solidFill>
            <a:srgbClr val="FCFAD5"/>
          </a:solidFill>
          <a:ln w="30480">
            <a:solidFill>
              <a:srgbClr val="D9D6A6"/>
            </a:solidFill>
            <a:prstDash val="solid"/>
          </a:ln>
        </p:spPr>
      </p:sp>
      <p:sp>
        <p:nvSpPr>
          <p:cNvPr id="8" name="Shape 6"/>
          <p:cNvSpPr/>
          <p:nvPr/>
        </p:nvSpPr>
        <p:spPr>
          <a:xfrm>
            <a:off x="7569041" y="2883694"/>
            <a:ext cx="121920" cy="3511034"/>
          </a:xfrm>
          <a:prstGeom prst="roundRect">
            <a:avLst>
              <a:gd name="adj" fmla="val 27907"/>
            </a:avLst>
          </a:prstGeom>
          <a:solidFill>
            <a:srgbClr val="23854E"/>
          </a:solidFill>
          <a:ln/>
        </p:spPr>
      </p:sp>
      <p:sp>
        <p:nvSpPr>
          <p:cNvPr id="9" name="Text 7"/>
          <p:cNvSpPr/>
          <p:nvPr/>
        </p:nvSpPr>
        <p:spPr>
          <a:xfrm>
            <a:off x="7948255" y="314098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Solution Overview</a:t>
            </a:r>
            <a:endParaRPr lang="en-US" sz="2200" dirty="0"/>
          </a:p>
        </p:txBody>
      </p:sp>
      <p:sp>
        <p:nvSpPr>
          <p:cNvPr id="10" name="Text 8"/>
          <p:cNvSpPr/>
          <p:nvPr/>
        </p:nvSpPr>
        <p:spPr>
          <a:xfrm>
            <a:off x="7948255" y="3722132"/>
            <a:ext cx="5638681" cy="241530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C2821"/>
                </a:solidFill>
                <a:latin typeface="PT Serif" pitchFamily="34" charset="0"/>
                <a:ea typeface="PT Serif" pitchFamily="34" charset="-122"/>
                <a:cs typeface="PT Serif" pitchFamily="34" charset="-120"/>
              </a:rPr>
              <a:t>Develop an automated regression testing framework</a:t>
            </a:r>
            <a:endParaRPr lang="en-US" sz="1750" dirty="0"/>
          </a:p>
          <a:p>
            <a:pPr marL="342900" indent="-342900" algn="l">
              <a:lnSpc>
                <a:spcPts val="2850"/>
              </a:lnSpc>
              <a:buSzPct val="100000"/>
              <a:buChar char="•"/>
            </a:pPr>
            <a:r>
              <a:rPr lang="en-US" sz="1750" dirty="0">
                <a:solidFill>
                  <a:srgbClr val="2C2821"/>
                </a:solidFill>
                <a:latin typeface="PT Serif" pitchFamily="34" charset="0"/>
                <a:ea typeface="PT Serif" pitchFamily="34" charset="-122"/>
                <a:cs typeface="PT Serif" pitchFamily="34" charset="-120"/>
              </a:rPr>
              <a:t>Use Selenium for UI testing and REST-Assured for API testing</a:t>
            </a:r>
            <a:endParaRPr lang="en-US" sz="1750" dirty="0"/>
          </a:p>
          <a:p>
            <a:pPr marL="342900" indent="-342900" algn="l">
              <a:lnSpc>
                <a:spcPts val="2850"/>
              </a:lnSpc>
              <a:buSzPct val="100000"/>
              <a:buChar char="•"/>
            </a:pPr>
            <a:r>
              <a:rPr lang="en-US" sz="1750" dirty="0">
                <a:solidFill>
                  <a:srgbClr val="2C2821"/>
                </a:solidFill>
                <a:latin typeface="PT Serif" pitchFamily="34" charset="0"/>
                <a:ea typeface="PT Serif" pitchFamily="34" charset="-122"/>
                <a:cs typeface="PT Serif" pitchFamily="34" charset="-120"/>
              </a:rPr>
              <a:t>Enable parallel test execution using TestNG</a:t>
            </a:r>
            <a:endParaRPr lang="en-US" sz="1750" dirty="0"/>
          </a:p>
          <a:p>
            <a:pPr marL="342900" indent="-342900" algn="l">
              <a:lnSpc>
                <a:spcPts val="2850"/>
              </a:lnSpc>
              <a:buSzPct val="100000"/>
              <a:buChar char="•"/>
            </a:pPr>
            <a:r>
              <a:rPr lang="en-US" sz="1750" dirty="0">
                <a:solidFill>
                  <a:srgbClr val="2C2821"/>
                </a:solidFill>
                <a:latin typeface="PT Serif" pitchFamily="34" charset="0"/>
                <a:ea typeface="PT Serif" pitchFamily="34" charset="-122"/>
                <a:cs typeface="PT Serif" pitchFamily="34" charset="-120"/>
              </a:rPr>
              <a:t>Provide RESTful APIs using Spring Boot to trigger and monitor test execution</a:t>
            </a:r>
            <a:endParaRPr lang="en-US" sz="1750" dirty="0"/>
          </a:p>
        </p:txBody>
      </p:sp>
      <p:pic>
        <p:nvPicPr>
          <p:cNvPr id="12" name="Picture 11">
            <a:extLst>
              <a:ext uri="{FF2B5EF4-FFF2-40B4-BE49-F238E27FC236}">
                <a16:creationId xmlns:a16="http://schemas.microsoft.com/office/drawing/2014/main" id="{C384D214-9B13-F5D4-BC85-0174D80E97B3}"/>
              </a:ext>
            </a:extLst>
          </p:cNvPr>
          <p:cNvPicPr>
            <a:picLocks noChangeAspect="1"/>
          </p:cNvPicPr>
          <p:nvPr/>
        </p:nvPicPr>
        <p:blipFill>
          <a:blip r:embed="rId3"/>
          <a:stretch>
            <a:fillRect/>
          </a:stretch>
        </p:blipFill>
        <p:spPr>
          <a:xfrm>
            <a:off x="12901961" y="7351401"/>
            <a:ext cx="1640137" cy="800140"/>
          </a:xfrm>
          <a:prstGeom prst="rect">
            <a:avLst/>
          </a:prstGeom>
        </p:spPr>
      </p:pic>
      <p:pic>
        <p:nvPicPr>
          <p:cNvPr id="13" name="Picture 12">
            <a:extLst>
              <a:ext uri="{FF2B5EF4-FFF2-40B4-BE49-F238E27FC236}">
                <a16:creationId xmlns:a16="http://schemas.microsoft.com/office/drawing/2014/main" id="{B3F99EEF-3D6E-8F6B-65F9-C500F586E13B}"/>
              </a:ext>
            </a:extLst>
          </p:cNvPr>
          <p:cNvPicPr>
            <a:picLocks noChangeAspect="1"/>
          </p:cNvPicPr>
          <p:nvPr/>
        </p:nvPicPr>
        <p:blipFill>
          <a:blip r:embed="rId4"/>
          <a:stretch>
            <a:fillRect/>
          </a:stretch>
        </p:blipFill>
        <p:spPr>
          <a:xfrm>
            <a:off x="12328803" y="149948"/>
            <a:ext cx="2105319" cy="13622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641271"/>
            <a:ext cx="1300520" cy="426244"/>
          </a:xfrm>
          <a:prstGeom prst="roundRect">
            <a:avLst>
              <a:gd name="adj" fmla="val 6386"/>
            </a:avLst>
          </a:prstGeom>
          <a:solidFill>
            <a:srgbClr val="D7F4E4"/>
          </a:solidFill>
          <a:ln/>
        </p:spPr>
      </p:sp>
      <p:sp>
        <p:nvSpPr>
          <p:cNvPr id="3" name="Text 1"/>
          <p:cNvSpPr/>
          <p:nvPr/>
        </p:nvSpPr>
        <p:spPr>
          <a:xfrm>
            <a:off x="929878" y="709255"/>
            <a:ext cx="1028343" cy="290274"/>
          </a:xfrm>
          <a:prstGeom prst="rect">
            <a:avLst/>
          </a:prstGeom>
          <a:noFill/>
          <a:ln/>
        </p:spPr>
        <p:txBody>
          <a:bodyPr wrap="none" lIns="0" tIns="0" rIns="0" bIns="0" rtlCol="0" anchor="t"/>
          <a:lstStyle/>
          <a:p>
            <a:pPr marL="0" indent="0" algn="l">
              <a:lnSpc>
                <a:spcPts val="2250"/>
              </a:lnSpc>
              <a:buNone/>
            </a:pPr>
            <a:r>
              <a:rPr lang="en-US" sz="1400" dirty="0">
                <a:solidFill>
                  <a:srgbClr val="2C2821"/>
                </a:solidFill>
                <a:latin typeface="PT Serif" pitchFamily="34" charset="0"/>
                <a:ea typeface="PT Serif" pitchFamily="34" charset="-122"/>
                <a:cs typeface="PT Serif" pitchFamily="34" charset="-120"/>
              </a:rPr>
              <a:t>OBJECTIVES</a:t>
            </a:r>
            <a:endParaRPr lang="en-US" sz="1400" dirty="0"/>
          </a:p>
        </p:txBody>
      </p:sp>
      <p:sp>
        <p:nvSpPr>
          <p:cNvPr id="4" name="Text 2"/>
          <p:cNvSpPr/>
          <p:nvPr/>
        </p:nvSpPr>
        <p:spPr>
          <a:xfrm>
            <a:off x="793790" y="1158240"/>
            <a:ext cx="10864453" cy="708779"/>
          </a:xfrm>
          <a:prstGeom prst="rect">
            <a:avLst/>
          </a:prstGeom>
          <a:noFill/>
          <a:ln/>
        </p:spPr>
        <p:txBody>
          <a:bodyPr wrap="none" lIns="0" tIns="0" rIns="0" bIns="0" rtlCol="0" anchor="t"/>
          <a:lstStyle/>
          <a:p>
            <a:pPr marL="0" indent="0" algn="l">
              <a:lnSpc>
                <a:spcPts val="5550"/>
              </a:lnSpc>
              <a:buNone/>
            </a:pPr>
            <a:r>
              <a:rPr lang="en-US" sz="4450" dirty="0">
                <a:solidFill>
                  <a:srgbClr val="233E32"/>
                </a:solidFill>
                <a:latin typeface="Prata" pitchFamily="34" charset="0"/>
                <a:ea typeface="Prata" pitchFamily="34" charset="-122"/>
                <a:cs typeface="Prata" pitchFamily="34" charset="-120"/>
              </a:rPr>
              <a:t>What This Framework Sets Out to Solve</a:t>
            </a:r>
            <a:endParaRPr lang="en-US" sz="4450" dirty="0"/>
          </a:p>
        </p:txBody>
      </p:sp>
      <p:sp>
        <p:nvSpPr>
          <p:cNvPr id="5" name="Shape 3"/>
          <p:cNvSpPr/>
          <p:nvPr/>
        </p:nvSpPr>
        <p:spPr>
          <a:xfrm>
            <a:off x="793790" y="2207181"/>
            <a:ext cx="6407944" cy="2577108"/>
          </a:xfrm>
          <a:prstGeom prst="roundRect">
            <a:avLst>
              <a:gd name="adj" fmla="val 1320"/>
            </a:avLst>
          </a:prstGeom>
          <a:solidFill>
            <a:srgbClr val="F3F0C0"/>
          </a:solidFill>
          <a:ln/>
        </p:spPr>
      </p:sp>
      <p:sp>
        <p:nvSpPr>
          <p:cNvPr id="6" name="Shape 4"/>
          <p:cNvSpPr/>
          <p:nvPr/>
        </p:nvSpPr>
        <p:spPr>
          <a:xfrm>
            <a:off x="1020604" y="2433995"/>
            <a:ext cx="680442" cy="680442"/>
          </a:xfrm>
          <a:prstGeom prst="roundRect">
            <a:avLst>
              <a:gd name="adj" fmla="val 13436980"/>
            </a:avLst>
          </a:prstGeom>
          <a:solidFill>
            <a:srgbClr val="23854E"/>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7770" y="2621042"/>
            <a:ext cx="306110" cy="306110"/>
          </a:xfrm>
          <a:prstGeom prst="rect">
            <a:avLst/>
          </a:prstGeom>
        </p:spPr>
      </p:pic>
      <p:sp>
        <p:nvSpPr>
          <p:cNvPr id="8" name="Text 5"/>
          <p:cNvSpPr/>
          <p:nvPr/>
        </p:nvSpPr>
        <p:spPr>
          <a:xfrm>
            <a:off x="1020604" y="3341251"/>
            <a:ext cx="2881313"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Automate Regression</a:t>
            </a:r>
            <a:endParaRPr lang="en-US" sz="2200" dirty="0"/>
          </a:p>
        </p:txBody>
      </p:sp>
      <p:sp>
        <p:nvSpPr>
          <p:cNvPr id="9" name="Text 6"/>
          <p:cNvSpPr/>
          <p:nvPr/>
        </p:nvSpPr>
        <p:spPr>
          <a:xfrm>
            <a:off x="1020604" y="3831669"/>
            <a:ext cx="5954316"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Replace repetitive manual test runs with fully automated regression suites triggered on demand or on schedule.</a:t>
            </a:r>
            <a:endParaRPr lang="en-US" sz="1750" dirty="0"/>
          </a:p>
        </p:txBody>
      </p:sp>
      <p:sp>
        <p:nvSpPr>
          <p:cNvPr id="10" name="Shape 7"/>
          <p:cNvSpPr/>
          <p:nvPr/>
        </p:nvSpPr>
        <p:spPr>
          <a:xfrm>
            <a:off x="7428548" y="2207181"/>
            <a:ext cx="6408063" cy="2577108"/>
          </a:xfrm>
          <a:prstGeom prst="roundRect">
            <a:avLst>
              <a:gd name="adj" fmla="val 1320"/>
            </a:avLst>
          </a:prstGeom>
          <a:solidFill>
            <a:srgbClr val="F3F0C0"/>
          </a:solidFill>
          <a:ln/>
        </p:spPr>
      </p:sp>
      <p:sp>
        <p:nvSpPr>
          <p:cNvPr id="11" name="Shape 8"/>
          <p:cNvSpPr/>
          <p:nvPr/>
        </p:nvSpPr>
        <p:spPr>
          <a:xfrm>
            <a:off x="7655362" y="2433995"/>
            <a:ext cx="680442" cy="680442"/>
          </a:xfrm>
          <a:prstGeom prst="roundRect">
            <a:avLst>
              <a:gd name="adj" fmla="val 13436980"/>
            </a:avLst>
          </a:prstGeom>
          <a:solidFill>
            <a:srgbClr val="23854E"/>
          </a:solidFill>
          <a:ln/>
        </p:spPr>
      </p:sp>
      <p:sp>
        <p:nvSpPr>
          <p:cNvPr id="12" name="Text 9"/>
          <p:cNvSpPr/>
          <p:nvPr/>
        </p:nvSpPr>
        <p:spPr>
          <a:xfrm>
            <a:off x="7842528" y="2582823"/>
            <a:ext cx="306110" cy="382667"/>
          </a:xfrm>
          <a:prstGeom prst="rect">
            <a:avLst/>
          </a:prstGeom>
          <a:noFill/>
          <a:ln/>
        </p:spPr>
        <p:txBody>
          <a:bodyPr wrap="none" lIns="0" tIns="0" rIns="0" bIns="0" rtlCol="0" anchor="t"/>
          <a:lstStyle/>
          <a:p>
            <a:pPr marL="0" indent="0" algn="l">
              <a:lnSpc>
                <a:spcPts val="3850"/>
              </a:lnSpc>
              <a:buNone/>
            </a:pPr>
            <a:endParaRPr lang="en-US" sz="2400" dirty="0"/>
          </a:p>
        </p:txBody>
      </p:sp>
      <p:sp>
        <p:nvSpPr>
          <p:cNvPr id="13" name="Text 10"/>
          <p:cNvSpPr/>
          <p:nvPr/>
        </p:nvSpPr>
        <p:spPr>
          <a:xfrm>
            <a:off x="7655362" y="334125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Parallel Execution</a:t>
            </a:r>
            <a:endParaRPr lang="en-US" sz="2200" dirty="0"/>
          </a:p>
        </p:txBody>
      </p:sp>
      <p:sp>
        <p:nvSpPr>
          <p:cNvPr id="14" name="Text 11"/>
          <p:cNvSpPr/>
          <p:nvPr/>
        </p:nvSpPr>
        <p:spPr>
          <a:xfrm>
            <a:off x="7655362" y="3831669"/>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Execute test cases in parallel using TestNG to reduce overall execution time.</a:t>
            </a:r>
            <a:endParaRPr lang="en-US" sz="1750" dirty="0"/>
          </a:p>
        </p:txBody>
      </p:sp>
      <p:sp>
        <p:nvSpPr>
          <p:cNvPr id="15" name="Shape 12"/>
          <p:cNvSpPr/>
          <p:nvPr/>
        </p:nvSpPr>
        <p:spPr>
          <a:xfrm>
            <a:off x="793790" y="5011103"/>
            <a:ext cx="6407944" cy="2577108"/>
          </a:xfrm>
          <a:prstGeom prst="roundRect">
            <a:avLst>
              <a:gd name="adj" fmla="val 1320"/>
            </a:avLst>
          </a:prstGeom>
          <a:solidFill>
            <a:srgbClr val="F3F0C0"/>
          </a:solidFill>
          <a:ln/>
        </p:spPr>
      </p:sp>
      <p:sp>
        <p:nvSpPr>
          <p:cNvPr id="16" name="Shape 13"/>
          <p:cNvSpPr/>
          <p:nvPr/>
        </p:nvSpPr>
        <p:spPr>
          <a:xfrm>
            <a:off x="1020604" y="5237917"/>
            <a:ext cx="680442" cy="680442"/>
          </a:xfrm>
          <a:prstGeom prst="roundRect">
            <a:avLst>
              <a:gd name="adj" fmla="val 13436980"/>
            </a:avLst>
          </a:prstGeom>
          <a:solidFill>
            <a:srgbClr val="23854E"/>
          </a:solidFill>
          <a:ln/>
        </p:spPr>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7770" y="5424964"/>
            <a:ext cx="306110" cy="306110"/>
          </a:xfrm>
          <a:prstGeom prst="rect">
            <a:avLst/>
          </a:prstGeom>
        </p:spPr>
      </p:pic>
      <p:sp>
        <p:nvSpPr>
          <p:cNvPr id="18" name="Text 14"/>
          <p:cNvSpPr/>
          <p:nvPr/>
        </p:nvSpPr>
        <p:spPr>
          <a:xfrm>
            <a:off x="1020604" y="614517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Improve Reliability</a:t>
            </a:r>
            <a:endParaRPr lang="en-US" sz="2200" dirty="0"/>
          </a:p>
        </p:txBody>
      </p:sp>
      <p:sp>
        <p:nvSpPr>
          <p:cNvPr id="19" name="Text 15"/>
          <p:cNvSpPr/>
          <p:nvPr/>
        </p:nvSpPr>
        <p:spPr>
          <a:xfrm>
            <a:off x="1020604" y="6635591"/>
            <a:ext cx="5954316"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Minimize human error in test runs to improve consistency and reliability of results.</a:t>
            </a:r>
            <a:endParaRPr lang="en-US" sz="1750" dirty="0"/>
          </a:p>
        </p:txBody>
      </p:sp>
      <p:sp>
        <p:nvSpPr>
          <p:cNvPr id="20" name="Shape 16"/>
          <p:cNvSpPr/>
          <p:nvPr/>
        </p:nvSpPr>
        <p:spPr>
          <a:xfrm>
            <a:off x="7428548" y="5011103"/>
            <a:ext cx="6408063" cy="2577108"/>
          </a:xfrm>
          <a:prstGeom prst="roundRect">
            <a:avLst>
              <a:gd name="adj" fmla="val 1320"/>
            </a:avLst>
          </a:prstGeom>
          <a:solidFill>
            <a:srgbClr val="F3F0C0"/>
          </a:solidFill>
          <a:ln/>
        </p:spPr>
      </p:sp>
      <p:sp>
        <p:nvSpPr>
          <p:cNvPr id="21" name="Shape 17"/>
          <p:cNvSpPr/>
          <p:nvPr/>
        </p:nvSpPr>
        <p:spPr>
          <a:xfrm>
            <a:off x="7655362" y="5237917"/>
            <a:ext cx="680442" cy="680442"/>
          </a:xfrm>
          <a:prstGeom prst="roundRect">
            <a:avLst>
              <a:gd name="adj" fmla="val 13436980"/>
            </a:avLst>
          </a:prstGeom>
          <a:solidFill>
            <a:srgbClr val="23854E"/>
          </a:solidFill>
          <a:ln/>
        </p:spPr>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42528" y="5424964"/>
            <a:ext cx="306110" cy="306110"/>
          </a:xfrm>
          <a:prstGeom prst="rect">
            <a:avLst/>
          </a:prstGeom>
        </p:spPr>
      </p:pic>
      <p:sp>
        <p:nvSpPr>
          <p:cNvPr id="23" name="Text 18"/>
          <p:cNvSpPr/>
          <p:nvPr/>
        </p:nvSpPr>
        <p:spPr>
          <a:xfrm>
            <a:off x="7655362" y="6145173"/>
            <a:ext cx="3137178"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Test Management APIs</a:t>
            </a:r>
            <a:endParaRPr lang="en-US" sz="2200" dirty="0"/>
          </a:p>
        </p:txBody>
      </p:sp>
      <p:sp>
        <p:nvSpPr>
          <p:cNvPr id="24" name="Text 19"/>
          <p:cNvSpPr/>
          <p:nvPr/>
        </p:nvSpPr>
        <p:spPr>
          <a:xfrm>
            <a:off x="7655362" y="6635591"/>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Provide RESTful endpoints to trigger, monitor, and retrieve test results programmatically.</a:t>
            </a:r>
            <a:endParaRPr lang="en-US" sz="1750" dirty="0"/>
          </a:p>
        </p:txBody>
      </p:sp>
      <p:pic>
        <p:nvPicPr>
          <p:cNvPr id="25" name="Picture 24">
            <a:extLst>
              <a:ext uri="{FF2B5EF4-FFF2-40B4-BE49-F238E27FC236}">
                <a16:creationId xmlns:a16="http://schemas.microsoft.com/office/drawing/2014/main" id="{7F61AE29-3360-9003-C4A5-A2110A65AFBA}"/>
              </a:ext>
            </a:extLst>
          </p:cNvPr>
          <p:cNvPicPr>
            <a:picLocks noChangeAspect="1"/>
          </p:cNvPicPr>
          <p:nvPr/>
        </p:nvPicPr>
        <p:blipFill>
          <a:blip r:embed="rId6"/>
          <a:stretch>
            <a:fillRect/>
          </a:stretch>
        </p:blipFill>
        <p:spPr>
          <a:xfrm>
            <a:off x="12901961" y="7724299"/>
            <a:ext cx="1640137" cy="427242"/>
          </a:xfrm>
          <a:prstGeom prst="rect">
            <a:avLst/>
          </a:prstGeom>
        </p:spPr>
      </p:pic>
      <p:pic>
        <p:nvPicPr>
          <p:cNvPr id="26" name="Picture 25">
            <a:extLst>
              <a:ext uri="{FF2B5EF4-FFF2-40B4-BE49-F238E27FC236}">
                <a16:creationId xmlns:a16="http://schemas.microsoft.com/office/drawing/2014/main" id="{ED20900D-8763-1178-883C-29E8E5BCCE2C}"/>
              </a:ext>
            </a:extLst>
          </p:cNvPr>
          <p:cNvPicPr>
            <a:picLocks noChangeAspect="1"/>
          </p:cNvPicPr>
          <p:nvPr/>
        </p:nvPicPr>
        <p:blipFill>
          <a:blip r:embed="rId7"/>
          <a:stretch>
            <a:fillRect/>
          </a:stretch>
        </p:blipFill>
        <p:spPr>
          <a:xfrm>
            <a:off x="12328803" y="149948"/>
            <a:ext cx="2105319" cy="1362265"/>
          </a:xfrm>
          <a:prstGeom prst="rect">
            <a:avLst/>
          </a:prstGeom>
        </p:spPr>
      </p:pic>
      <p:pic>
        <p:nvPicPr>
          <p:cNvPr id="29" name="Picture 28">
            <a:extLst>
              <a:ext uri="{FF2B5EF4-FFF2-40B4-BE49-F238E27FC236}">
                <a16:creationId xmlns:a16="http://schemas.microsoft.com/office/drawing/2014/main" id="{E0A334C6-41E1-AC33-1AEA-30DDDB080A62}"/>
              </a:ext>
            </a:extLst>
          </p:cNvPr>
          <p:cNvPicPr>
            <a:picLocks noChangeAspect="1"/>
          </p:cNvPicPr>
          <p:nvPr/>
        </p:nvPicPr>
        <p:blipFill>
          <a:blip r:embed="rId8">
            <a:duotone>
              <a:prstClr val="black"/>
              <a:schemeClr val="bg1">
                <a:tint val="45000"/>
                <a:satMod val="400000"/>
              </a:schemeClr>
            </a:duotone>
            <a:alphaModFix/>
            <a:extLst>
              <a:ext uri="{BEBA8EAE-BF5A-486C-A8C5-ECC9F3942E4B}">
                <a14:imgProps xmlns:a14="http://schemas.microsoft.com/office/drawing/2010/main">
                  <a14:imgLayer r:embed="rId9">
                    <a14:imgEffect>
                      <a14:artisticPhotocopy/>
                    </a14:imgEffect>
                  </a14:imgLayer>
                </a14:imgProps>
              </a:ext>
            </a:extLst>
          </a:blip>
          <a:stretch>
            <a:fillRect/>
          </a:stretch>
        </p:blipFill>
        <p:spPr>
          <a:xfrm>
            <a:off x="7790061" y="2568575"/>
            <a:ext cx="411043" cy="411043"/>
          </a:xfrm>
          <a:prstGeom prst="rect">
            <a:avLst/>
          </a:prstGeom>
          <a:ln>
            <a:noFill/>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675442"/>
            <a:ext cx="1325523" cy="426244"/>
          </a:xfrm>
          <a:prstGeom prst="roundRect">
            <a:avLst>
              <a:gd name="adj" fmla="val 6386"/>
            </a:avLst>
          </a:prstGeom>
          <a:solidFill>
            <a:srgbClr val="D7F4E4"/>
          </a:solidFill>
          <a:ln/>
        </p:spPr>
      </p:sp>
      <p:sp>
        <p:nvSpPr>
          <p:cNvPr id="3" name="Text 1"/>
          <p:cNvSpPr/>
          <p:nvPr/>
        </p:nvSpPr>
        <p:spPr>
          <a:xfrm>
            <a:off x="929878" y="743426"/>
            <a:ext cx="1053346" cy="290274"/>
          </a:xfrm>
          <a:prstGeom prst="rect">
            <a:avLst/>
          </a:prstGeom>
          <a:noFill/>
          <a:ln/>
        </p:spPr>
        <p:txBody>
          <a:bodyPr wrap="none" lIns="0" tIns="0" rIns="0" bIns="0" rtlCol="0" anchor="t"/>
          <a:lstStyle/>
          <a:p>
            <a:pPr marL="0" indent="0" algn="l">
              <a:lnSpc>
                <a:spcPts val="2250"/>
              </a:lnSpc>
              <a:buNone/>
            </a:pPr>
            <a:r>
              <a:rPr lang="en-US" sz="1400" dirty="0">
                <a:solidFill>
                  <a:srgbClr val="2C2821"/>
                </a:solidFill>
                <a:latin typeface="PT Serif" pitchFamily="34" charset="0"/>
                <a:ea typeface="PT Serif" pitchFamily="34" charset="-122"/>
                <a:cs typeface="PT Serif" pitchFamily="34" charset="-120"/>
              </a:rPr>
              <a:t>TECH STACK</a:t>
            </a:r>
            <a:endParaRPr lang="en-US" sz="1400" dirty="0"/>
          </a:p>
        </p:txBody>
      </p:sp>
      <p:sp>
        <p:nvSpPr>
          <p:cNvPr id="4" name="Text 2"/>
          <p:cNvSpPr/>
          <p:nvPr/>
        </p:nvSpPr>
        <p:spPr>
          <a:xfrm>
            <a:off x="793790" y="119241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33E32"/>
                </a:solidFill>
                <a:latin typeface="Prata" pitchFamily="34" charset="0"/>
                <a:ea typeface="Prata" pitchFamily="34" charset="-122"/>
                <a:cs typeface="Prata" pitchFamily="34" charset="-120"/>
              </a:rPr>
              <a:t>Core Requirements</a:t>
            </a:r>
            <a:endParaRPr lang="en-US" sz="44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2241352"/>
            <a:ext cx="566976" cy="566976"/>
          </a:xfrm>
          <a:prstGeom prst="rect">
            <a:avLst/>
          </a:prstGeom>
        </p:spPr>
      </p:pic>
      <p:sp>
        <p:nvSpPr>
          <p:cNvPr id="6" name="Text 3"/>
          <p:cNvSpPr/>
          <p:nvPr/>
        </p:nvSpPr>
        <p:spPr>
          <a:xfrm>
            <a:off x="793790" y="30918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Java + Spring Boot</a:t>
            </a:r>
            <a:endParaRPr lang="en-US" sz="2200" dirty="0"/>
          </a:p>
        </p:txBody>
      </p:sp>
      <p:sp>
        <p:nvSpPr>
          <p:cNvPr id="7" name="Text 4"/>
          <p:cNvSpPr/>
          <p:nvPr/>
        </p:nvSpPr>
        <p:spPr>
          <a:xfrm>
            <a:off x="793790" y="3582233"/>
            <a:ext cx="6379607" cy="1088708"/>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Spring Boot serves as the application backbone, providing REST API endpoints, dependency injection, and lifecycle management for the framework.</a:t>
            </a:r>
            <a:endParaRPr lang="en-US" sz="17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56884" y="2241352"/>
            <a:ext cx="566976" cy="566976"/>
          </a:xfrm>
          <a:prstGeom prst="rect">
            <a:avLst/>
          </a:prstGeom>
        </p:spPr>
      </p:pic>
      <p:sp>
        <p:nvSpPr>
          <p:cNvPr id="9" name="Text 5"/>
          <p:cNvSpPr/>
          <p:nvPr/>
        </p:nvSpPr>
        <p:spPr>
          <a:xfrm>
            <a:off x="7456884" y="3091815"/>
            <a:ext cx="3554611"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Selenium + REST-Assured</a:t>
            </a:r>
            <a:endParaRPr lang="en-US" sz="2200" dirty="0"/>
          </a:p>
        </p:txBody>
      </p:sp>
      <p:sp>
        <p:nvSpPr>
          <p:cNvPr id="10" name="Text 6"/>
          <p:cNvSpPr/>
          <p:nvPr/>
        </p:nvSpPr>
        <p:spPr>
          <a:xfrm>
            <a:off x="7456884" y="3582233"/>
            <a:ext cx="6379726" cy="1088708"/>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Selenium drives browser-based UI tests; REST-Assured handles HTTP-layer API validation with expressive, chainable assertions.</a:t>
            </a:r>
            <a:endParaRPr lang="en-US" sz="17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5124569"/>
            <a:ext cx="566976" cy="566976"/>
          </a:xfrm>
          <a:prstGeom prst="rect">
            <a:avLst/>
          </a:prstGeom>
        </p:spPr>
      </p:pic>
      <p:sp>
        <p:nvSpPr>
          <p:cNvPr id="12" name="Text 7"/>
          <p:cNvSpPr/>
          <p:nvPr/>
        </p:nvSpPr>
        <p:spPr>
          <a:xfrm>
            <a:off x="793790" y="597503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Maven / Gradle</a:t>
            </a:r>
            <a:endParaRPr lang="en-US" sz="2200" dirty="0"/>
          </a:p>
        </p:txBody>
      </p:sp>
      <p:sp>
        <p:nvSpPr>
          <p:cNvPr id="13" name="Text 8"/>
          <p:cNvSpPr/>
          <p:nvPr/>
        </p:nvSpPr>
        <p:spPr>
          <a:xfrm>
            <a:off x="793790" y="6465451"/>
            <a:ext cx="6379607"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Standard build tooling for dependency management, test execution lifecycle, and CI integration via plugins.</a:t>
            </a:r>
            <a:endParaRPr lang="en-US" sz="17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56884" y="5124569"/>
            <a:ext cx="566976" cy="566976"/>
          </a:xfrm>
          <a:prstGeom prst="rect">
            <a:avLst/>
          </a:prstGeom>
        </p:spPr>
      </p:pic>
      <p:sp>
        <p:nvSpPr>
          <p:cNvPr id="15" name="Text 9"/>
          <p:cNvSpPr/>
          <p:nvPr/>
        </p:nvSpPr>
        <p:spPr>
          <a:xfrm>
            <a:off x="7456884" y="597503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MySQL + TestNG</a:t>
            </a:r>
            <a:endParaRPr lang="en-US" sz="2200" dirty="0"/>
          </a:p>
        </p:txBody>
      </p:sp>
      <p:sp>
        <p:nvSpPr>
          <p:cNvPr id="16" name="Text 10"/>
          <p:cNvSpPr/>
          <p:nvPr/>
        </p:nvSpPr>
        <p:spPr>
          <a:xfrm>
            <a:off x="7456884" y="6465451"/>
            <a:ext cx="6379726" cy="1088708"/>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MySQL persists test results and metadata; TestNG orchestrates test execution with parallel support, grouping, and rich XML-based configuration.</a:t>
            </a:r>
            <a:endParaRPr lang="en-US" sz="1750" dirty="0"/>
          </a:p>
        </p:txBody>
      </p:sp>
      <p:pic>
        <p:nvPicPr>
          <p:cNvPr id="17" name="Picture 16">
            <a:extLst>
              <a:ext uri="{FF2B5EF4-FFF2-40B4-BE49-F238E27FC236}">
                <a16:creationId xmlns:a16="http://schemas.microsoft.com/office/drawing/2014/main" id="{47A67775-9BCB-835B-DE0E-A44020973224}"/>
              </a:ext>
            </a:extLst>
          </p:cNvPr>
          <p:cNvPicPr>
            <a:picLocks noChangeAspect="1"/>
          </p:cNvPicPr>
          <p:nvPr/>
        </p:nvPicPr>
        <p:blipFill>
          <a:blip r:embed="rId7"/>
          <a:stretch>
            <a:fillRect/>
          </a:stretch>
        </p:blipFill>
        <p:spPr>
          <a:xfrm>
            <a:off x="12901961" y="7351401"/>
            <a:ext cx="1640137" cy="800140"/>
          </a:xfrm>
          <a:prstGeom prst="rect">
            <a:avLst/>
          </a:prstGeom>
        </p:spPr>
      </p:pic>
      <p:pic>
        <p:nvPicPr>
          <p:cNvPr id="18" name="Picture 17">
            <a:extLst>
              <a:ext uri="{FF2B5EF4-FFF2-40B4-BE49-F238E27FC236}">
                <a16:creationId xmlns:a16="http://schemas.microsoft.com/office/drawing/2014/main" id="{8172BA89-3B2C-CC9C-3250-3C9286EE1684}"/>
              </a:ext>
            </a:extLst>
          </p:cNvPr>
          <p:cNvPicPr>
            <a:picLocks noChangeAspect="1"/>
          </p:cNvPicPr>
          <p:nvPr/>
        </p:nvPicPr>
        <p:blipFill>
          <a:blip r:embed="rId8"/>
          <a:stretch>
            <a:fillRect/>
          </a:stretch>
        </p:blipFill>
        <p:spPr>
          <a:xfrm>
            <a:off x="12328803" y="149948"/>
            <a:ext cx="2105319" cy="13622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255871" y="506611"/>
            <a:ext cx="1241703" cy="304562"/>
          </a:xfrm>
          <a:prstGeom prst="roundRect">
            <a:avLst>
              <a:gd name="adj" fmla="val 6920"/>
            </a:avLst>
          </a:prstGeom>
          <a:solidFill>
            <a:srgbClr val="D7F4E4"/>
          </a:solidFill>
          <a:ln/>
        </p:spPr>
      </p:sp>
      <p:sp>
        <p:nvSpPr>
          <p:cNvPr id="3" name="Text 1"/>
          <p:cNvSpPr/>
          <p:nvPr/>
        </p:nvSpPr>
        <p:spPr>
          <a:xfrm>
            <a:off x="1361242" y="559237"/>
            <a:ext cx="1030962" cy="199311"/>
          </a:xfrm>
          <a:prstGeom prst="rect">
            <a:avLst/>
          </a:prstGeom>
          <a:noFill/>
          <a:ln/>
        </p:spPr>
        <p:txBody>
          <a:bodyPr wrap="none" lIns="0" tIns="0" rIns="0" bIns="0" rtlCol="0" anchor="t"/>
          <a:lstStyle/>
          <a:p>
            <a:pPr marL="0" indent="0" algn="l">
              <a:lnSpc>
                <a:spcPts val="1550"/>
              </a:lnSpc>
              <a:buNone/>
            </a:pPr>
            <a:r>
              <a:rPr lang="en-US" sz="1100" dirty="0">
                <a:solidFill>
                  <a:srgbClr val="2C2821"/>
                </a:solidFill>
                <a:latin typeface="PT Serif" pitchFamily="34" charset="0"/>
                <a:ea typeface="PT Serif" pitchFamily="34" charset="-122"/>
                <a:cs typeface="PT Serif" pitchFamily="34" charset="-120"/>
              </a:rPr>
              <a:t>ARCHITECTURE</a:t>
            </a:r>
            <a:endParaRPr lang="en-US" sz="1100" dirty="0"/>
          </a:p>
        </p:txBody>
      </p:sp>
      <p:sp>
        <p:nvSpPr>
          <p:cNvPr id="4" name="Text 2"/>
          <p:cNvSpPr/>
          <p:nvPr/>
        </p:nvSpPr>
        <p:spPr>
          <a:xfrm>
            <a:off x="1255871" y="865465"/>
            <a:ext cx="6369248" cy="548878"/>
          </a:xfrm>
          <a:prstGeom prst="rect">
            <a:avLst/>
          </a:prstGeom>
          <a:noFill/>
          <a:ln/>
        </p:spPr>
        <p:txBody>
          <a:bodyPr wrap="none" lIns="0" tIns="0" rIns="0" bIns="0" rtlCol="0" anchor="t"/>
          <a:lstStyle/>
          <a:p>
            <a:pPr marL="0" indent="0" algn="l">
              <a:lnSpc>
                <a:spcPts val="4300"/>
              </a:lnSpc>
              <a:buNone/>
            </a:pPr>
            <a:r>
              <a:rPr lang="en-US" sz="3450" dirty="0">
                <a:solidFill>
                  <a:srgbClr val="233E32"/>
                </a:solidFill>
                <a:latin typeface="Prata" pitchFamily="34" charset="0"/>
                <a:ea typeface="Prata" pitchFamily="34" charset="-122"/>
                <a:cs typeface="Prata" pitchFamily="34" charset="-120"/>
              </a:rPr>
              <a:t>System Architecture Overview</a:t>
            </a:r>
            <a:endParaRPr lang="en-US" sz="3450" dirty="0"/>
          </a:p>
        </p:txBody>
      </p:sp>
      <p:pic>
        <p:nvPicPr>
          <p:cNvPr id="5" name="Image 0" descr="preencoded.png"/>
          <p:cNvPicPr>
            <a:picLocks noChangeAspect="1"/>
          </p:cNvPicPr>
          <p:nvPr/>
        </p:nvPicPr>
        <p:blipFill>
          <a:blip r:embed="rId3"/>
          <a:stretch>
            <a:fillRect/>
          </a:stretch>
        </p:blipFill>
        <p:spPr>
          <a:xfrm>
            <a:off x="1255871" y="1618298"/>
            <a:ext cx="12118658" cy="5453301"/>
          </a:xfrm>
          <a:prstGeom prst="rect">
            <a:avLst/>
          </a:prstGeom>
        </p:spPr>
      </p:pic>
      <p:sp>
        <p:nvSpPr>
          <p:cNvPr id="6" name="Text 3"/>
          <p:cNvSpPr/>
          <p:nvPr/>
        </p:nvSpPr>
        <p:spPr>
          <a:xfrm>
            <a:off x="3081391" y="1874467"/>
            <a:ext cx="2120728" cy="327722"/>
          </a:xfrm>
          <a:prstGeom prst="rect">
            <a:avLst/>
          </a:prstGeom>
          <a:noFill/>
          <a:ln/>
        </p:spPr>
        <p:txBody>
          <a:bodyPr wrap="none" lIns="0" tIns="0" rIns="0" bIns="0" rtlCol="0" anchor="t"/>
          <a:lstStyle/>
          <a:p>
            <a:pPr marL="0" indent="0" algn="ctr">
              <a:lnSpc>
                <a:spcPts val="2550"/>
              </a:lnSpc>
              <a:buNone/>
            </a:pPr>
            <a:r>
              <a:rPr lang="en-US" sz="2050" dirty="0">
                <a:solidFill>
                  <a:srgbClr val="2C2821"/>
                </a:solidFill>
                <a:latin typeface="Prata" pitchFamily="34" charset="0"/>
                <a:ea typeface="Prata" pitchFamily="34" charset="-122"/>
                <a:cs typeface="Prata" pitchFamily="34" charset="-120"/>
              </a:rPr>
              <a:t>API Request</a:t>
            </a:r>
            <a:endParaRPr lang="en-US" sz="2050" dirty="0"/>
          </a:p>
        </p:txBody>
      </p:sp>
      <p:sp>
        <p:nvSpPr>
          <p:cNvPr id="7" name="Text 4"/>
          <p:cNvSpPr/>
          <p:nvPr/>
        </p:nvSpPr>
        <p:spPr>
          <a:xfrm>
            <a:off x="3081391" y="2295408"/>
            <a:ext cx="2120728" cy="465002"/>
          </a:xfrm>
          <a:prstGeom prst="rect">
            <a:avLst/>
          </a:prstGeom>
          <a:noFill/>
          <a:ln/>
        </p:spPr>
        <p:txBody>
          <a:bodyPr wrap="square" lIns="0" tIns="0" rIns="0" bIns="0" rtlCol="0" anchor="t"/>
          <a:lstStyle/>
          <a:p>
            <a:pPr marL="0" indent="0" algn="ctr">
              <a:lnSpc>
                <a:spcPts val="1800"/>
              </a:lnSpc>
              <a:buNone/>
            </a:pPr>
            <a:r>
              <a:rPr lang="en-US" sz="1650" dirty="0">
                <a:solidFill>
                  <a:srgbClr val="2C2821"/>
                </a:solidFill>
                <a:latin typeface="PT Serif" pitchFamily="34" charset="0"/>
                <a:ea typeface="PT Serif" pitchFamily="34" charset="-122"/>
                <a:cs typeface="PT Serif" pitchFamily="34" charset="-120"/>
              </a:rPr>
              <a:t>Client sends REST API call</a:t>
            </a:r>
            <a:endParaRPr lang="en-US" sz="16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12713" y="3330465"/>
            <a:ext cx="469736" cy="469735"/>
          </a:xfrm>
          <a:prstGeom prst="rect">
            <a:avLst/>
          </a:prstGeom>
        </p:spPr>
      </p:pic>
      <p:sp>
        <p:nvSpPr>
          <p:cNvPr id="9" name="Text 5"/>
          <p:cNvSpPr/>
          <p:nvPr/>
        </p:nvSpPr>
        <p:spPr>
          <a:xfrm>
            <a:off x="5178814" y="5800581"/>
            <a:ext cx="2132381" cy="655445"/>
          </a:xfrm>
          <a:prstGeom prst="rect">
            <a:avLst/>
          </a:prstGeom>
          <a:noFill/>
          <a:ln/>
        </p:spPr>
        <p:txBody>
          <a:bodyPr wrap="square" lIns="0" tIns="0" rIns="0" bIns="0" rtlCol="0" anchor="t"/>
          <a:lstStyle/>
          <a:p>
            <a:pPr marL="0" indent="0" algn="ctr">
              <a:lnSpc>
                <a:spcPts val="2550"/>
              </a:lnSpc>
              <a:buNone/>
            </a:pPr>
            <a:r>
              <a:rPr lang="en-US" sz="2050" dirty="0">
                <a:solidFill>
                  <a:srgbClr val="2C2821"/>
                </a:solidFill>
                <a:latin typeface="Prata" pitchFamily="34" charset="0"/>
                <a:ea typeface="Prata" pitchFamily="34" charset="-122"/>
                <a:cs typeface="Prata" pitchFamily="34" charset="-120"/>
              </a:rPr>
              <a:t>Execution Engine</a:t>
            </a:r>
            <a:endParaRPr lang="en-US" sz="2050" dirty="0"/>
          </a:p>
        </p:txBody>
      </p:sp>
      <p:sp>
        <p:nvSpPr>
          <p:cNvPr id="10" name="Text 6"/>
          <p:cNvSpPr/>
          <p:nvPr/>
        </p:nvSpPr>
        <p:spPr>
          <a:xfrm>
            <a:off x="5093869" y="6530422"/>
            <a:ext cx="2772006" cy="465002"/>
          </a:xfrm>
          <a:prstGeom prst="rect">
            <a:avLst/>
          </a:prstGeom>
          <a:noFill/>
          <a:ln/>
        </p:spPr>
        <p:txBody>
          <a:bodyPr wrap="square" lIns="0" tIns="0" rIns="0" bIns="0" rtlCol="0" anchor="t"/>
          <a:lstStyle/>
          <a:p>
            <a:pPr marL="0" indent="0" algn="ctr">
              <a:lnSpc>
                <a:spcPts val="1800"/>
              </a:lnSpc>
              <a:buNone/>
            </a:pPr>
            <a:r>
              <a:rPr lang="en-US" sz="1650" dirty="0">
                <a:solidFill>
                  <a:srgbClr val="2C2821"/>
                </a:solidFill>
                <a:latin typeface="PT Serif" pitchFamily="34" charset="0"/>
                <a:ea typeface="PT Serif" pitchFamily="34" charset="-122"/>
                <a:cs typeface="PT Serif" pitchFamily="34" charset="-120"/>
              </a:rPr>
              <a:t>API layer triggers test run</a:t>
            </a:r>
            <a:endParaRPr lang="en-US" sz="16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10136" y="5043361"/>
            <a:ext cx="469736" cy="469736"/>
          </a:xfrm>
          <a:prstGeom prst="rect">
            <a:avLst/>
          </a:prstGeom>
        </p:spPr>
      </p:pic>
      <p:sp>
        <p:nvSpPr>
          <p:cNvPr id="12" name="Text 7"/>
          <p:cNvSpPr/>
          <p:nvPr/>
        </p:nvSpPr>
        <p:spPr>
          <a:xfrm>
            <a:off x="7252933" y="1833684"/>
            <a:ext cx="2120728" cy="327722"/>
          </a:xfrm>
          <a:prstGeom prst="rect">
            <a:avLst/>
          </a:prstGeom>
          <a:noFill/>
          <a:ln/>
        </p:spPr>
        <p:txBody>
          <a:bodyPr wrap="none" lIns="0" tIns="0" rIns="0" bIns="0" rtlCol="0" anchor="t"/>
          <a:lstStyle/>
          <a:p>
            <a:pPr marL="0" indent="0" algn="ctr">
              <a:lnSpc>
                <a:spcPts val="2550"/>
              </a:lnSpc>
              <a:buNone/>
            </a:pPr>
            <a:r>
              <a:rPr lang="en-US" sz="2050" dirty="0">
                <a:solidFill>
                  <a:srgbClr val="2C2821"/>
                </a:solidFill>
                <a:latin typeface="Prata" pitchFamily="34" charset="0"/>
                <a:ea typeface="Prata" pitchFamily="34" charset="-122"/>
                <a:cs typeface="Prata" pitchFamily="34" charset="-120"/>
              </a:rPr>
              <a:t>Parallel Tests</a:t>
            </a:r>
            <a:endParaRPr lang="en-US" sz="2050" dirty="0"/>
          </a:p>
        </p:txBody>
      </p:sp>
      <p:sp>
        <p:nvSpPr>
          <p:cNvPr id="13" name="Text 8"/>
          <p:cNvSpPr/>
          <p:nvPr/>
        </p:nvSpPr>
        <p:spPr>
          <a:xfrm>
            <a:off x="7252933" y="2254625"/>
            <a:ext cx="2120728" cy="465002"/>
          </a:xfrm>
          <a:prstGeom prst="rect">
            <a:avLst/>
          </a:prstGeom>
          <a:noFill/>
          <a:ln/>
        </p:spPr>
        <p:txBody>
          <a:bodyPr wrap="square" lIns="0" tIns="0" rIns="0" bIns="0" rtlCol="0" anchor="t"/>
          <a:lstStyle/>
          <a:p>
            <a:pPr marL="0" indent="0" algn="ctr">
              <a:lnSpc>
                <a:spcPts val="1800"/>
              </a:lnSpc>
              <a:buNone/>
            </a:pPr>
            <a:r>
              <a:rPr lang="en-US" sz="1650" dirty="0">
                <a:solidFill>
                  <a:srgbClr val="2C2821"/>
                </a:solidFill>
                <a:latin typeface="PT Serif" pitchFamily="34" charset="0"/>
                <a:ea typeface="PT Serif" pitchFamily="34" charset="-122"/>
                <a:cs typeface="PT Serif" pitchFamily="34" charset="-120"/>
              </a:rPr>
              <a:t>UI and API tests run concurrently</a:t>
            </a:r>
            <a:endParaRPr lang="en-US" sz="16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19212" y="3283855"/>
            <a:ext cx="469735" cy="469736"/>
          </a:xfrm>
          <a:prstGeom prst="rect">
            <a:avLst/>
          </a:prstGeom>
        </p:spPr>
      </p:pic>
      <p:sp>
        <p:nvSpPr>
          <p:cNvPr id="15" name="Text 9"/>
          <p:cNvSpPr/>
          <p:nvPr/>
        </p:nvSpPr>
        <p:spPr>
          <a:xfrm>
            <a:off x="9350356" y="5964442"/>
            <a:ext cx="2120728" cy="327723"/>
          </a:xfrm>
          <a:prstGeom prst="rect">
            <a:avLst/>
          </a:prstGeom>
          <a:noFill/>
          <a:ln/>
        </p:spPr>
        <p:txBody>
          <a:bodyPr wrap="none" lIns="0" tIns="0" rIns="0" bIns="0" rtlCol="0" anchor="t"/>
          <a:lstStyle/>
          <a:p>
            <a:pPr marL="0" indent="0" algn="ctr">
              <a:lnSpc>
                <a:spcPts val="2550"/>
              </a:lnSpc>
              <a:buNone/>
            </a:pPr>
            <a:r>
              <a:rPr lang="en-US" sz="2050" dirty="0">
                <a:solidFill>
                  <a:srgbClr val="2C2821"/>
                </a:solidFill>
                <a:latin typeface="Prata" pitchFamily="34" charset="0"/>
                <a:ea typeface="Prata" pitchFamily="34" charset="-122"/>
                <a:cs typeface="Prata" pitchFamily="34" charset="-120"/>
              </a:rPr>
              <a:t>Persistence</a:t>
            </a:r>
            <a:endParaRPr lang="en-US" sz="2050" dirty="0"/>
          </a:p>
        </p:txBody>
      </p:sp>
      <p:sp>
        <p:nvSpPr>
          <p:cNvPr id="16" name="Text 10"/>
          <p:cNvSpPr/>
          <p:nvPr/>
        </p:nvSpPr>
        <p:spPr>
          <a:xfrm>
            <a:off x="9350355" y="6385384"/>
            <a:ext cx="2213459" cy="465002"/>
          </a:xfrm>
          <a:prstGeom prst="rect">
            <a:avLst/>
          </a:prstGeom>
          <a:noFill/>
          <a:ln/>
        </p:spPr>
        <p:txBody>
          <a:bodyPr wrap="square" lIns="0" tIns="0" rIns="0" bIns="0" rtlCol="0" anchor="t"/>
          <a:lstStyle/>
          <a:p>
            <a:pPr marL="0" indent="0" algn="ctr">
              <a:lnSpc>
                <a:spcPts val="1800"/>
              </a:lnSpc>
              <a:buNone/>
            </a:pPr>
            <a:r>
              <a:rPr lang="en-US" sz="1650" dirty="0">
                <a:solidFill>
                  <a:srgbClr val="2C2821"/>
                </a:solidFill>
                <a:latin typeface="PT Serif" pitchFamily="34" charset="0"/>
                <a:ea typeface="PT Serif" pitchFamily="34" charset="-122"/>
                <a:cs typeface="PT Serif" pitchFamily="34" charset="-120"/>
              </a:rPr>
              <a:t>Results saved to MySQL database</a:t>
            </a:r>
            <a:endParaRPr lang="en-US" sz="165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81679" y="5043361"/>
            <a:ext cx="469735" cy="469736"/>
          </a:xfrm>
          <a:prstGeom prst="rect">
            <a:avLst/>
          </a:prstGeom>
        </p:spPr>
      </p:pic>
      <p:sp>
        <p:nvSpPr>
          <p:cNvPr id="18" name="Text 11"/>
          <p:cNvSpPr/>
          <p:nvPr/>
        </p:nvSpPr>
        <p:spPr>
          <a:xfrm>
            <a:off x="1255871" y="7224474"/>
            <a:ext cx="12118658" cy="498396"/>
          </a:xfrm>
          <a:prstGeom prst="rect">
            <a:avLst/>
          </a:prstGeom>
          <a:noFill/>
          <a:ln/>
        </p:spPr>
        <p:txBody>
          <a:bodyPr wrap="square" lIns="0" tIns="0" rIns="0" bIns="0" rtlCol="0" anchor="t"/>
          <a:lstStyle/>
          <a:p>
            <a:pPr marL="0" indent="0" algn="l">
              <a:lnSpc>
                <a:spcPts val="1950"/>
              </a:lnSpc>
              <a:buNone/>
            </a:pPr>
            <a:r>
              <a:rPr lang="en-US" dirty="0">
                <a:solidFill>
                  <a:srgbClr val="2C2821"/>
                </a:solidFill>
                <a:latin typeface="PT Serif" pitchFamily="34" charset="0"/>
                <a:ea typeface="PT Serif" pitchFamily="34" charset="-122"/>
                <a:cs typeface="PT Serif" pitchFamily="34" charset="-120"/>
              </a:rPr>
              <a:t>The framework uses REST APIs as the entry point. Requests are handled by the execution engine, which runs UI and API tests in parallel. Test results are stored in MySQL and displayed through reports and logs</a:t>
            </a:r>
            <a:endParaRPr lang="en-US" dirty="0"/>
          </a:p>
        </p:txBody>
      </p:sp>
      <p:pic>
        <p:nvPicPr>
          <p:cNvPr id="19" name="Picture 18">
            <a:extLst>
              <a:ext uri="{FF2B5EF4-FFF2-40B4-BE49-F238E27FC236}">
                <a16:creationId xmlns:a16="http://schemas.microsoft.com/office/drawing/2014/main" id="{1B3FE0C8-C78C-6021-E0F9-ACDA0F73C159}"/>
              </a:ext>
            </a:extLst>
          </p:cNvPr>
          <p:cNvPicPr>
            <a:picLocks noChangeAspect="1"/>
          </p:cNvPicPr>
          <p:nvPr/>
        </p:nvPicPr>
        <p:blipFill>
          <a:blip r:embed="rId8"/>
          <a:stretch>
            <a:fillRect/>
          </a:stretch>
        </p:blipFill>
        <p:spPr>
          <a:xfrm>
            <a:off x="12901961" y="7653143"/>
            <a:ext cx="1640137" cy="498397"/>
          </a:xfrm>
          <a:prstGeom prst="rect">
            <a:avLst/>
          </a:prstGeom>
        </p:spPr>
      </p:pic>
      <p:pic>
        <p:nvPicPr>
          <p:cNvPr id="20" name="Picture 19">
            <a:extLst>
              <a:ext uri="{FF2B5EF4-FFF2-40B4-BE49-F238E27FC236}">
                <a16:creationId xmlns:a16="http://schemas.microsoft.com/office/drawing/2014/main" id="{5B1F7EC6-9FFE-18F6-CD3F-6DC61FB3C224}"/>
              </a:ext>
            </a:extLst>
          </p:cNvPr>
          <p:cNvPicPr>
            <a:picLocks noChangeAspect="1"/>
          </p:cNvPicPr>
          <p:nvPr/>
        </p:nvPicPr>
        <p:blipFill>
          <a:blip r:embed="rId9"/>
          <a:stretch>
            <a:fillRect/>
          </a:stretch>
        </p:blipFill>
        <p:spPr>
          <a:xfrm>
            <a:off x="12328803" y="149948"/>
            <a:ext cx="2105319" cy="13622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3" name="Shape 0">
            <a:extLst>
              <a:ext uri="{FF2B5EF4-FFF2-40B4-BE49-F238E27FC236}">
                <a16:creationId xmlns:a16="http://schemas.microsoft.com/office/drawing/2014/main" id="{67A704E3-95BC-3446-4098-7AFB31059214}"/>
              </a:ext>
            </a:extLst>
          </p:cNvPr>
          <p:cNvSpPr/>
          <p:nvPr/>
        </p:nvSpPr>
        <p:spPr>
          <a:xfrm>
            <a:off x="885229" y="1555552"/>
            <a:ext cx="951191" cy="320516"/>
          </a:xfrm>
          <a:prstGeom prst="roundRect">
            <a:avLst>
              <a:gd name="adj" fmla="val 6644"/>
            </a:avLst>
          </a:prstGeom>
          <a:solidFill>
            <a:srgbClr val="D7F4E4"/>
          </a:solidFill>
          <a:ln/>
        </p:spPr>
      </p:sp>
      <p:sp>
        <p:nvSpPr>
          <p:cNvPr id="3" name="Text 1"/>
          <p:cNvSpPr/>
          <p:nvPr/>
        </p:nvSpPr>
        <p:spPr>
          <a:xfrm>
            <a:off x="937498" y="1555552"/>
            <a:ext cx="844034" cy="290274"/>
          </a:xfrm>
          <a:prstGeom prst="rect">
            <a:avLst/>
          </a:prstGeom>
          <a:noFill/>
          <a:ln/>
        </p:spPr>
        <p:txBody>
          <a:bodyPr wrap="none" lIns="0" tIns="0" rIns="0" bIns="0" rtlCol="0" anchor="t"/>
          <a:lstStyle/>
          <a:p>
            <a:pPr marL="0" indent="0" algn="l">
              <a:lnSpc>
                <a:spcPts val="2250"/>
              </a:lnSpc>
              <a:buNone/>
            </a:pPr>
            <a:r>
              <a:rPr lang="en-US" sz="1400" dirty="0">
                <a:solidFill>
                  <a:srgbClr val="23854E"/>
                </a:solidFill>
                <a:latin typeface="PT Serif" pitchFamily="34" charset="0"/>
                <a:ea typeface="PT Serif" pitchFamily="34" charset="-122"/>
                <a:cs typeface="PT Serif" pitchFamily="34" charset="-120"/>
              </a:rPr>
              <a:t>MODULES</a:t>
            </a:r>
            <a:endParaRPr lang="en-US" sz="1400" dirty="0"/>
          </a:p>
        </p:txBody>
      </p:sp>
      <p:sp>
        <p:nvSpPr>
          <p:cNvPr id="4" name="Text 2"/>
          <p:cNvSpPr/>
          <p:nvPr/>
        </p:nvSpPr>
        <p:spPr>
          <a:xfrm>
            <a:off x="793790" y="2012156"/>
            <a:ext cx="7151846" cy="708779"/>
          </a:xfrm>
          <a:prstGeom prst="rect">
            <a:avLst/>
          </a:prstGeom>
          <a:noFill/>
          <a:ln/>
        </p:spPr>
        <p:txBody>
          <a:bodyPr wrap="none" lIns="0" tIns="0" rIns="0" bIns="0" rtlCol="0" anchor="t"/>
          <a:lstStyle/>
          <a:p>
            <a:pPr marL="0" indent="0" algn="l">
              <a:lnSpc>
                <a:spcPts val="5550"/>
              </a:lnSpc>
              <a:buNone/>
            </a:pPr>
            <a:r>
              <a:rPr lang="en-US" sz="4450" dirty="0">
                <a:solidFill>
                  <a:srgbClr val="233E32"/>
                </a:solidFill>
                <a:latin typeface="Prata" pitchFamily="34" charset="0"/>
                <a:ea typeface="Prata" pitchFamily="34" charset="-122"/>
                <a:cs typeface="Prata" pitchFamily="34" charset="-120"/>
              </a:rPr>
              <a:t>Core Framework Modules</a:t>
            </a:r>
            <a:endParaRPr lang="en-US" sz="4450" dirty="0"/>
          </a:p>
        </p:txBody>
      </p:sp>
      <p:sp>
        <p:nvSpPr>
          <p:cNvPr id="5" name="Shape 3"/>
          <p:cNvSpPr/>
          <p:nvPr/>
        </p:nvSpPr>
        <p:spPr>
          <a:xfrm>
            <a:off x="793790" y="3061097"/>
            <a:ext cx="6407944" cy="1730812"/>
          </a:xfrm>
          <a:prstGeom prst="roundRect">
            <a:avLst>
              <a:gd name="adj" fmla="val 8453"/>
            </a:avLst>
          </a:prstGeom>
          <a:solidFill>
            <a:srgbClr val="FCFAD5"/>
          </a:solidFill>
          <a:ln w="30480">
            <a:solidFill>
              <a:srgbClr val="D9D6A6"/>
            </a:solidFill>
            <a:prstDash val="solid"/>
          </a:ln>
        </p:spPr>
      </p:sp>
      <p:sp>
        <p:nvSpPr>
          <p:cNvPr id="6" name="Shape 4"/>
          <p:cNvSpPr/>
          <p:nvPr/>
        </p:nvSpPr>
        <p:spPr>
          <a:xfrm>
            <a:off x="763310" y="3061097"/>
            <a:ext cx="121920" cy="1730812"/>
          </a:xfrm>
          <a:prstGeom prst="roundRect">
            <a:avLst>
              <a:gd name="adj" fmla="val 27907"/>
            </a:avLst>
          </a:prstGeom>
          <a:solidFill>
            <a:srgbClr val="23854E"/>
          </a:solidFill>
          <a:ln/>
        </p:spPr>
      </p:sp>
      <p:sp>
        <p:nvSpPr>
          <p:cNvPr id="7" name="Text 5"/>
          <p:cNvSpPr/>
          <p:nvPr/>
        </p:nvSpPr>
        <p:spPr>
          <a:xfrm>
            <a:off x="1142524" y="3318391"/>
            <a:ext cx="315789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Test Integration Engine</a:t>
            </a:r>
            <a:endParaRPr lang="en-US" sz="2200" dirty="0"/>
          </a:p>
        </p:txBody>
      </p:sp>
      <p:sp>
        <p:nvSpPr>
          <p:cNvPr id="8" name="Text 6"/>
          <p:cNvSpPr/>
          <p:nvPr/>
        </p:nvSpPr>
        <p:spPr>
          <a:xfrm>
            <a:off x="1142524" y="3808809"/>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Manages test execution by integrating Selenium (UI) and REST-Assured (API) based on test type.</a:t>
            </a:r>
            <a:endParaRPr lang="en-US" sz="1750" dirty="0"/>
          </a:p>
        </p:txBody>
      </p:sp>
      <p:sp>
        <p:nvSpPr>
          <p:cNvPr id="9" name="Shape 7"/>
          <p:cNvSpPr/>
          <p:nvPr/>
        </p:nvSpPr>
        <p:spPr>
          <a:xfrm>
            <a:off x="7428548" y="3061097"/>
            <a:ext cx="6408063" cy="1730812"/>
          </a:xfrm>
          <a:prstGeom prst="roundRect">
            <a:avLst>
              <a:gd name="adj" fmla="val 8453"/>
            </a:avLst>
          </a:prstGeom>
          <a:solidFill>
            <a:srgbClr val="FCFAD5"/>
          </a:solidFill>
          <a:ln w="30480">
            <a:solidFill>
              <a:srgbClr val="D9D6A6"/>
            </a:solidFill>
            <a:prstDash val="solid"/>
          </a:ln>
        </p:spPr>
      </p:sp>
      <p:sp>
        <p:nvSpPr>
          <p:cNvPr id="10" name="Shape 8"/>
          <p:cNvSpPr/>
          <p:nvPr/>
        </p:nvSpPr>
        <p:spPr>
          <a:xfrm>
            <a:off x="7398067" y="3061097"/>
            <a:ext cx="121920" cy="1730812"/>
          </a:xfrm>
          <a:prstGeom prst="roundRect">
            <a:avLst>
              <a:gd name="adj" fmla="val 27907"/>
            </a:avLst>
          </a:prstGeom>
          <a:solidFill>
            <a:srgbClr val="23854E"/>
          </a:solidFill>
          <a:ln/>
        </p:spPr>
      </p:sp>
      <p:sp>
        <p:nvSpPr>
          <p:cNvPr id="11" name="Text 9"/>
          <p:cNvSpPr/>
          <p:nvPr/>
        </p:nvSpPr>
        <p:spPr>
          <a:xfrm>
            <a:off x="7777282" y="3318391"/>
            <a:ext cx="3288268"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Scheduling &amp; Execution</a:t>
            </a:r>
            <a:endParaRPr lang="en-US" sz="2200" dirty="0"/>
          </a:p>
        </p:txBody>
      </p:sp>
      <p:sp>
        <p:nvSpPr>
          <p:cNvPr id="12" name="Text 10"/>
          <p:cNvSpPr/>
          <p:nvPr/>
        </p:nvSpPr>
        <p:spPr>
          <a:xfrm>
            <a:off x="7777282" y="3808809"/>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Supports on-demand and scheduled test execution with parallel runs using TestNG.</a:t>
            </a:r>
            <a:endParaRPr lang="en-US" sz="1750" dirty="0"/>
          </a:p>
        </p:txBody>
      </p:sp>
      <p:sp>
        <p:nvSpPr>
          <p:cNvPr id="13" name="Shape 11"/>
          <p:cNvSpPr/>
          <p:nvPr/>
        </p:nvSpPr>
        <p:spPr>
          <a:xfrm>
            <a:off x="793790" y="5018723"/>
            <a:ext cx="6407944" cy="1730812"/>
          </a:xfrm>
          <a:prstGeom prst="roundRect">
            <a:avLst>
              <a:gd name="adj" fmla="val 8453"/>
            </a:avLst>
          </a:prstGeom>
          <a:solidFill>
            <a:srgbClr val="FCFAD5"/>
          </a:solidFill>
          <a:ln w="30480">
            <a:solidFill>
              <a:srgbClr val="D9D6A6"/>
            </a:solidFill>
            <a:prstDash val="solid"/>
          </a:ln>
        </p:spPr>
      </p:sp>
      <p:sp>
        <p:nvSpPr>
          <p:cNvPr id="14" name="Shape 12"/>
          <p:cNvSpPr/>
          <p:nvPr/>
        </p:nvSpPr>
        <p:spPr>
          <a:xfrm>
            <a:off x="763310" y="5018723"/>
            <a:ext cx="121920" cy="1730812"/>
          </a:xfrm>
          <a:prstGeom prst="roundRect">
            <a:avLst>
              <a:gd name="adj" fmla="val 27907"/>
            </a:avLst>
          </a:prstGeom>
          <a:solidFill>
            <a:srgbClr val="23854E"/>
          </a:solidFill>
          <a:ln/>
        </p:spPr>
      </p:sp>
      <p:sp>
        <p:nvSpPr>
          <p:cNvPr id="15" name="Text 13"/>
          <p:cNvSpPr/>
          <p:nvPr/>
        </p:nvSpPr>
        <p:spPr>
          <a:xfrm>
            <a:off x="1142524" y="527601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Reporting &amp; Logs</a:t>
            </a:r>
            <a:endParaRPr lang="en-US" sz="2200" dirty="0"/>
          </a:p>
        </p:txBody>
      </p:sp>
      <p:sp>
        <p:nvSpPr>
          <p:cNvPr id="16" name="Text 14"/>
          <p:cNvSpPr/>
          <p:nvPr/>
        </p:nvSpPr>
        <p:spPr>
          <a:xfrm>
            <a:off x="1142524" y="5766435"/>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Generates HTML reports and logs with test results, including pass/fail status and screenshots.</a:t>
            </a:r>
            <a:endParaRPr lang="en-US" sz="1750" dirty="0"/>
          </a:p>
        </p:txBody>
      </p:sp>
      <p:sp>
        <p:nvSpPr>
          <p:cNvPr id="17" name="Shape 15"/>
          <p:cNvSpPr/>
          <p:nvPr/>
        </p:nvSpPr>
        <p:spPr>
          <a:xfrm>
            <a:off x="7428548" y="5018723"/>
            <a:ext cx="6408063" cy="1730812"/>
          </a:xfrm>
          <a:prstGeom prst="roundRect">
            <a:avLst>
              <a:gd name="adj" fmla="val 8453"/>
            </a:avLst>
          </a:prstGeom>
          <a:solidFill>
            <a:srgbClr val="FCFAD5"/>
          </a:solidFill>
          <a:ln w="30480">
            <a:solidFill>
              <a:srgbClr val="D9D6A6"/>
            </a:solidFill>
            <a:prstDash val="solid"/>
          </a:ln>
        </p:spPr>
      </p:sp>
      <p:sp>
        <p:nvSpPr>
          <p:cNvPr id="18" name="Shape 16"/>
          <p:cNvSpPr/>
          <p:nvPr/>
        </p:nvSpPr>
        <p:spPr>
          <a:xfrm>
            <a:off x="7398067" y="5018723"/>
            <a:ext cx="121920" cy="1730812"/>
          </a:xfrm>
          <a:prstGeom prst="roundRect">
            <a:avLst>
              <a:gd name="adj" fmla="val 27907"/>
            </a:avLst>
          </a:prstGeom>
          <a:solidFill>
            <a:srgbClr val="23854E"/>
          </a:solidFill>
          <a:ln/>
        </p:spPr>
      </p:sp>
      <p:sp>
        <p:nvSpPr>
          <p:cNvPr id="19" name="Text 17"/>
          <p:cNvSpPr/>
          <p:nvPr/>
        </p:nvSpPr>
        <p:spPr>
          <a:xfrm>
            <a:off x="7777282" y="527601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Result Analytics</a:t>
            </a:r>
            <a:endParaRPr lang="en-US" sz="2200" dirty="0"/>
          </a:p>
        </p:txBody>
      </p:sp>
      <p:sp>
        <p:nvSpPr>
          <p:cNvPr id="20" name="Text 18"/>
          <p:cNvSpPr/>
          <p:nvPr/>
        </p:nvSpPr>
        <p:spPr>
          <a:xfrm>
            <a:off x="7777282" y="5766435"/>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Stores test results in MySQL and helps track execution status and trends over time</a:t>
            </a:r>
            <a:endParaRPr lang="en-US" sz="1750" dirty="0"/>
          </a:p>
        </p:txBody>
      </p:sp>
      <p:pic>
        <p:nvPicPr>
          <p:cNvPr id="21" name="Picture 20">
            <a:extLst>
              <a:ext uri="{FF2B5EF4-FFF2-40B4-BE49-F238E27FC236}">
                <a16:creationId xmlns:a16="http://schemas.microsoft.com/office/drawing/2014/main" id="{CB4A3A59-94AB-52BD-10CE-5C3118042984}"/>
              </a:ext>
            </a:extLst>
          </p:cNvPr>
          <p:cNvPicPr>
            <a:picLocks noChangeAspect="1"/>
          </p:cNvPicPr>
          <p:nvPr/>
        </p:nvPicPr>
        <p:blipFill>
          <a:blip r:embed="rId3"/>
          <a:stretch>
            <a:fillRect/>
          </a:stretch>
        </p:blipFill>
        <p:spPr>
          <a:xfrm>
            <a:off x="12901961" y="7351401"/>
            <a:ext cx="1640137" cy="800140"/>
          </a:xfrm>
          <a:prstGeom prst="rect">
            <a:avLst/>
          </a:prstGeom>
        </p:spPr>
      </p:pic>
      <p:pic>
        <p:nvPicPr>
          <p:cNvPr id="22" name="Picture 21">
            <a:extLst>
              <a:ext uri="{FF2B5EF4-FFF2-40B4-BE49-F238E27FC236}">
                <a16:creationId xmlns:a16="http://schemas.microsoft.com/office/drawing/2014/main" id="{A5BF16FA-4E93-4D52-8A9E-68566DAC0CA4}"/>
              </a:ext>
            </a:extLst>
          </p:cNvPr>
          <p:cNvPicPr>
            <a:picLocks noChangeAspect="1"/>
          </p:cNvPicPr>
          <p:nvPr/>
        </p:nvPicPr>
        <p:blipFill>
          <a:blip r:embed="rId4"/>
          <a:stretch>
            <a:fillRect/>
          </a:stretch>
        </p:blipFill>
        <p:spPr>
          <a:xfrm>
            <a:off x="12328803" y="149948"/>
            <a:ext cx="2105319" cy="13622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03898" y="751880"/>
            <a:ext cx="1616035" cy="363260"/>
          </a:xfrm>
          <a:prstGeom prst="roundRect">
            <a:avLst>
              <a:gd name="adj" fmla="val 6644"/>
            </a:avLst>
          </a:prstGeom>
          <a:solidFill>
            <a:srgbClr val="D7F4E4"/>
          </a:solidFill>
          <a:ln/>
        </p:spPr>
      </p:sp>
      <p:sp>
        <p:nvSpPr>
          <p:cNvPr id="3" name="Text 1"/>
          <p:cNvSpPr/>
          <p:nvPr/>
        </p:nvSpPr>
        <p:spPr>
          <a:xfrm>
            <a:off x="824508" y="812125"/>
            <a:ext cx="1374815" cy="242768"/>
          </a:xfrm>
          <a:prstGeom prst="rect">
            <a:avLst/>
          </a:prstGeom>
          <a:noFill/>
          <a:ln/>
        </p:spPr>
        <p:txBody>
          <a:bodyPr wrap="none" lIns="0" tIns="0" rIns="0" bIns="0" rtlCol="0" anchor="t"/>
          <a:lstStyle/>
          <a:p>
            <a:pPr marL="0" indent="0" algn="l">
              <a:lnSpc>
                <a:spcPts val="1900"/>
              </a:lnSpc>
              <a:buNone/>
            </a:pPr>
            <a:r>
              <a:rPr lang="en-US" sz="1250" dirty="0">
                <a:solidFill>
                  <a:srgbClr val="2C2821"/>
                </a:solidFill>
                <a:latin typeface="PT Serif" pitchFamily="34" charset="0"/>
                <a:ea typeface="PT Serif" pitchFamily="34" charset="-122"/>
                <a:cs typeface="PT Serif" pitchFamily="34" charset="-120"/>
              </a:rPr>
              <a:t>EXECUTION FLOW</a:t>
            </a:r>
            <a:endParaRPr lang="en-US" sz="1250" dirty="0"/>
          </a:p>
        </p:txBody>
      </p:sp>
      <p:sp>
        <p:nvSpPr>
          <p:cNvPr id="4" name="Text 2"/>
          <p:cNvSpPr/>
          <p:nvPr/>
        </p:nvSpPr>
        <p:spPr>
          <a:xfrm>
            <a:off x="703898" y="1186458"/>
            <a:ext cx="5028128" cy="628412"/>
          </a:xfrm>
          <a:prstGeom prst="rect">
            <a:avLst/>
          </a:prstGeom>
          <a:noFill/>
          <a:ln/>
        </p:spPr>
        <p:txBody>
          <a:bodyPr wrap="none" lIns="0" tIns="0" rIns="0" bIns="0" rtlCol="0" anchor="t"/>
          <a:lstStyle/>
          <a:p>
            <a:pPr marL="0" indent="0" algn="l">
              <a:lnSpc>
                <a:spcPts val="4900"/>
              </a:lnSpc>
              <a:buNone/>
            </a:pPr>
            <a:r>
              <a:rPr lang="en-US" sz="3950" dirty="0">
                <a:solidFill>
                  <a:srgbClr val="233E32"/>
                </a:solidFill>
                <a:latin typeface="Prata" pitchFamily="34" charset="0"/>
                <a:ea typeface="Prata" pitchFamily="34" charset="-122"/>
                <a:cs typeface="Prata" pitchFamily="34" charset="-120"/>
              </a:rPr>
              <a:t>Execution Process </a:t>
            </a:r>
            <a:endParaRPr lang="en-US" sz="3950" dirty="0"/>
          </a:p>
        </p:txBody>
      </p:sp>
      <p:sp>
        <p:nvSpPr>
          <p:cNvPr id="5" name="Shape 3"/>
          <p:cNvSpPr/>
          <p:nvPr/>
        </p:nvSpPr>
        <p:spPr>
          <a:xfrm>
            <a:off x="930116" y="2082284"/>
            <a:ext cx="22860" cy="5395317"/>
          </a:xfrm>
          <a:prstGeom prst="roundRect">
            <a:avLst>
              <a:gd name="adj" fmla="val 131974"/>
            </a:avLst>
          </a:prstGeom>
          <a:solidFill>
            <a:srgbClr val="D9D6A6"/>
          </a:solidFill>
          <a:ln/>
        </p:spPr>
      </p:sp>
      <p:sp>
        <p:nvSpPr>
          <p:cNvPr id="6" name="Shape 4"/>
          <p:cNvSpPr/>
          <p:nvPr/>
        </p:nvSpPr>
        <p:spPr>
          <a:xfrm>
            <a:off x="1133475" y="2297073"/>
            <a:ext cx="603290" cy="22860"/>
          </a:xfrm>
          <a:prstGeom prst="roundRect">
            <a:avLst>
              <a:gd name="adj" fmla="val 131974"/>
            </a:avLst>
          </a:prstGeom>
          <a:solidFill>
            <a:srgbClr val="3C9E67"/>
          </a:solidFill>
          <a:ln/>
        </p:spPr>
      </p:sp>
      <p:sp>
        <p:nvSpPr>
          <p:cNvPr id="7" name="Shape 5"/>
          <p:cNvSpPr/>
          <p:nvPr/>
        </p:nvSpPr>
        <p:spPr>
          <a:xfrm>
            <a:off x="703897" y="1967507"/>
            <a:ext cx="452437" cy="452438"/>
          </a:xfrm>
          <a:prstGeom prst="roundRect">
            <a:avLst>
              <a:gd name="adj" fmla="val 6668"/>
            </a:avLst>
          </a:prstGeom>
          <a:solidFill>
            <a:srgbClr val="23854E"/>
          </a:solidFill>
          <a:ln/>
        </p:spPr>
        <p:txBody>
          <a:bodyPr/>
          <a:lstStyle/>
          <a:p>
            <a:endParaRPr lang="en-IN" dirty="0"/>
          </a:p>
        </p:txBody>
      </p:sp>
      <p:sp>
        <p:nvSpPr>
          <p:cNvPr id="8" name="Text 6"/>
          <p:cNvSpPr/>
          <p:nvPr/>
        </p:nvSpPr>
        <p:spPr>
          <a:xfrm>
            <a:off x="779324" y="2119967"/>
            <a:ext cx="301585" cy="377071"/>
          </a:xfrm>
          <a:prstGeom prst="rect">
            <a:avLst/>
          </a:prstGeom>
          <a:noFill/>
          <a:ln/>
        </p:spPr>
        <p:txBody>
          <a:bodyPr wrap="none" lIns="0" tIns="0" rIns="0" bIns="0" rtlCol="0" anchor="t"/>
          <a:lstStyle/>
          <a:p>
            <a:pPr marL="0" indent="0" algn="ctr">
              <a:lnSpc>
                <a:spcPts val="2350"/>
              </a:lnSpc>
              <a:buNone/>
            </a:pPr>
            <a:r>
              <a:rPr lang="en-US" sz="2350" dirty="0">
                <a:solidFill>
                  <a:srgbClr val="FFFFFF"/>
                </a:solidFill>
                <a:latin typeface="Prata" pitchFamily="34" charset="0"/>
                <a:ea typeface="Prata" pitchFamily="34" charset="-122"/>
                <a:cs typeface="Prata" pitchFamily="34" charset="-120"/>
              </a:rPr>
              <a:t>1</a:t>
            </a:r>
            <a:endParaRPr lang="en-US" sz="2350" dirty="0"/>
          </a:p>
        </p:txBody>
      </p:sp>
      <p:sp>
        <p:nvSpPr>
          <p:cNvPr id="9" name="Text 7"/>
          <p:cNvSpPr/>
          <p:nvPr/>
        </p:nvSpPr>
        <p:spPr>
          <a:xfrm>
            <a:off x="1935718" y="2151340"/>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2C2821"/>
                </a:solidFill>
                <a:latin typeface="Prata" pitchFamily="34" charset="0"/>
                <a:ea typeface="Prata" pitchFamily="34" charset="-122"/>
                <a:cs typeface="Prata" pitchFamily="34" charset="-120"/>
              </a:rPr>
              <a:t>Trigger</a:t>
            </a:r>
            <a:endParaRPr lang="en-US" sz="1950" dirty="0"/>
          </a:p>
        </p:txBody>
      </p:sp>
      <p:sp>
        <p:nvSpPr>
          <p:cNvPr id="10" name="Text 8"/>
          <p:cNvSpPr/>
          <p:nvPr/>
        </p:nvSpPr>
        <p:spPr>
          <a:xfrm>
            <a:off x="1935718" y="2572583"/>
            <a:ext cx="11990784" cy="303490"/>
          </a:xfrm>
          <a:prstGeom prst="rect">
            <a:avLst/>
          </a:prstGeom>
          <a:noFill/>
          <a:ln/>
        </p:spPr>
        <p:txBody>
          <a:bodyPr wrap="none" lIns="0" tIns="0" rIns="0" bIns="0" rtlCol="0" anchor="t"/>
          <a:lstStyle/>
          <a:p>
            <a:pPr marL="0" indent="0" algn="l">
              <a:lnSpc>
                <a:spcPts val="2350"/>
              </a:lnSpc>
              <a:buNone/>
            </a:pPr>
            <a:r>
              <a:rPr lang="en-US" sz="1550" dirty="0">
                <a:solidFill>
                  <a:srgbClr val="2C2821"/>
                </a:solidFill>
                <a:latin typeface="PT Serif" pitchFamily="34" charset="0"/>
                <a:ea typeface="PT Serif" pitchFamily="34" charset="-122"/>
                <a:cs typeface="PT Serif" pitchFamily="34" charset="-120"/>
              </a:rPr>
              <a:t>Test run is triggered via REST API or scheduler</a:t>
            </a:r>
            <a:endParaRPr lang="en-US" sz="1550" dirty="0"/>
          </a:p>
        </p:txBody>
      </p:sp>
      <p:sp>
        <p:nvSpPr>
          <p:cNvPr id="11" name="Shape 9"/>
          <p:cNvSpPr/>
          <p:nvPr/>
        </p:nvSpPr>
        <p:spPr>
          <a:xfrm>
            <a:off x="1133475" y="3447455"/>
            <a:ext cx="603290" cy="22860"/>
          </a:xfrm>
          <a:prstGeom prst="roundRect">
            <a:avLst>
              <a:gd name="adj" fmla="val 131974"/>
            </a:avLst>
          </a:prstGeom>
          <a:solidFill>
            <a:srgbClr val="3C9E67"/>
          </a:solidFill>
          <a:ln/>
        </p:spPr>
      </p:sp>
      <p:sp>
        <p:nvSpPr>
          <p:cNvPr id="12" name="Shape 10"/>
          <p:cNvSpPr/>
          <p:nvPr/>
        </p:nvSpPr>
        <p:spPr>
          <a:xfrm>
            <a:off x="715327" y="3163609"/>
            <a:ext cx="452437" cy="452438"/>
          </a:xfrm>
          <a:prstGeom prst="roundRect">
            <a:avLst>
              <a:gd name="adj" fmla="val 6668"/>
            </a:avLst>
          </a:prstGeom>
          <a:solidFill>
            <a:srgbClr val="23854E"/>
          </a:solidFill>
          <a:ln/>
        </p:spPr>
      </p:sp>
      <p:sp>
        <p:nvSpPr>
          <p:cNvPr id="13" name="Text 11"/>
          <p:cNvSpPr/>
          <p:nvPr/>
        </p:nvSpPr>
        <p:spPr>
          <a:xfrm>
            <a:off x="779324" y="3270349"/>
            <a:ext cx="301585" cy="377071"/>
          </a:xfrm>
          <a:prstGeom prst="rect">
            <a:avLst/>
          </a:prstGeom>
          <a:noFill/>
          <a:ln/>
        </p:spPr>
        <p:txBody>
          <a:bodyPr wrap="none" lIns="0" tIns="0" rIns="0" bIns="0" rtlCol="0" anchor="t"/>
          <a:lstStyle/>
          <a:p>
            <a:pPr marL="0" indent="0" algn="ctr">
              <a:lnSpc>
                <a:spcPts val="2350"/>
              </a:lnSpc>
              <a:buNone/>
            </a:pPr>
            <a:r>
              <a:rPr lang="en-US" sz="2350" dirty="0">
                <a:solidFill>
                  <a:srgbClr val="FFFFFF"/>
                </a:solidFill>
                <a:latin typeface="Prata" pitchFamily="34" charset="0"/>
                <a:ea typeface="Prata" pitchFamily="34" charset="-122"/>
                <a:cs typeface="Prata" pitchFamily="34" charset="-120"/>
              </a:rPr>
              <a:t>2</a:t>
            </a:r>
            <a:endParaRPr lang="en-US" sz="2350" dirty="0"/>
          </a:p>
        </p:txBody>
      </p:sp>
      <p:sp>
        <p:nvSpPr>
          <p:cNvPr id="14" name="Text 12"/>
          <p:cNvSpPr/>
          <p:nvPr/>
        </p:nvSpPr>
        <p:spPr>
          <a:xfrm>
            <a:off x="1935718" y="3301722"/>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2C2821"/>
                </a:solidFill>
                <a:latin typeface="Prata" pitchFamily="34" charset="0"/>
                <a:ea typeface="Prata" pitchFamily="34" charset="-122"/>
                <a:cs typeface="Prata" pitchFamily="34" charset="-120"/>
              </a:rPr>
              <a:t>Execute</a:t>
            </a:r>
            <a:endParaRPr lang="en-US" sz="1950" dirty="0"/>
          </a:p>
        </p:txBody>
      </p:sp>
      <p:sp>
        <p:nvSpPr>
          <p:cNvPr id="15" name="Text 13"/>
          <p:cNvSpPr/>
          <p:nvPr/>
        </p:nvSpPr>
        <p:spPr>
          <a:xfrm>
            <a:off x="1935718" y="3722965"/>
            <a:ext cx="11990784" cy="303490"/>
          </a:xfrm>
          <a:prstGeom prst="rect">
            <a:avLst/>
          </a:prstGeom>
          <a:noFill/>
          <a:ln/>
        </p:spPr>
        <p:txBody>
          <a:bodyPr wrap="none" lIns="0" tIns="0" rIns="0" bIns="0" rtlCol="0" anchor="t"/>
          <a:lstStyle/>
          <a:p>
            <a:pPr marL="0" indent="0" algn="l">
              <a:lnSpc>
                <a:spcPts val="2350"/>
              </a:lnSpc>
              <a:buNone/>
            </a:pPr>
            <a:r>
              <a:rPr lang="en-US" sz="1550" dirty="0">
                <a:solidFill>
                  <a:srgbClr val="2C2821"/>
                </a:solidFill>
                <a:latin typeface="PT Serif" pitchFamily="34" charset="0"/>
                <a:ea typeface="PT Serif" pitchFamily="34" charset="-122"/>
                <a:cs typeface="PT Serif" pitchFamily="34" charset="-120"/>
              </a:rPr>
              <a:t>TestNG executes test cases for UI and API testing</a:t>
            </a:r>
            <a:endParaRPr lang="en-US" sz="1550" dirty="0"/>
          </a:p>
        </p:txBody>
      </p:sp>
      <p:sp>
        <p:nvSpPr>
          <p:cNvPr id="16" name="Shape 14"/>
          <p:cNvSpPr/>
          <p:nvPr/>
        </p:nvSpPr>
        <p:spPr>
          <a:xfrm>
            <a:off x="1133475" y="4597837"/>
            <a:ext cx="603290" cy="22860"/>
          </a:xfrm>
          <a:prstGeom prst="roundRect">
            <a:avLst>
              <a:gd name="adj" fmla="val 131974"/>
            </a:avLst>
          </a:prstGeom>
          <a:solidFill>
            <a:srgbClr val="3C9E67"/>
          </a:solidFill>
          <a:ln/>
        </p:spPr>
      </p:sp>
      <p:sp>
        <p:nvSpPr>
          <p:cNvPr id="17" name="Shape 15"/>
          <p:cNvSpPr/>
          <p:nvPr/>
        </p:nvSpPr>
        <p:spPr>
          <a:xfrm>
            <a:off x="703898" y="4383048"/>
            <a:ext cx="452437" cy="452438"/>
          </a:xfrm>
          <a:prstGeom prst="roundRect">
            <a:avLst>
              <a:gd name="adj" fmla="val 6668"/>
            </a:avLst>
          </a:prstGeom>
          <a:solidFill>
            <a:srgbClr val="23854E"/>
          </a:solidFill>
          <a:ln/>
        </p:spPr>
      </p:sp>
      <p:sp>
        <p:nvSpPr>
          <p:cNvPr id="18" name="Text 16"/>
          <p:cNvSpPr/>
          <p:nvPr/>
        </p:nvSpPr>
        <p:spPr>
          <a:xfrm>
            <a:off x="779322" y="4508046"/>
            <a:ext cx="301585" cy="377071"/>
          </a:xfrm>
          <a:prstGeom prst="rect">
            <a:avLst/>
          </a:prstGeom>
          <a:noFill/>
          <a:ln/>
        </p:spPr>
        <p:txBody>
          <a:bodyPr wrap="none" lIns="0" tIns="0" rIns="0" bIns="0" rtlCol="0" anchor="t"/>
          <a:lstStyle/>
          <a:p>
            <a:pPr marL="0" indent="0" algn="ctr">
              <a:lnSpc>
                <a:spcPts val="2350"/>
              </a:lnSpc>
              <a:buNone/>
            </a:pPr>
            <a:r>
              <a:rPr lang="en-US" sz="2350" dirty="0">
                <a:solidFill>
                  <a:srgbClr val="FFFFFF"/>
                </a:solidFill>
                <a:latin typeface="Prata" pitchFamily="34" charset="0"/>
                <a:ea typeface="Prata" pitchFamily="34" charset="-122"/>
                <a:cs typeface="Prata" pitchFamily="34" charset="-120"/>
              </a:rPr>
              <a:t>3</a:t>
            </a:r>
            <a:endParaRPr lang="en-US" sz="2350" dirty="0"/>
          </a:p>
        </p:txBody>
      </p:sp>
      <p:sp>
        <p:nvSpPr>
          <p:cNvPr id="19" name="Text 17"/>
          <p:cNvSpPr/>
          <p:nvPr/>
        </p:nvSpPr>
        <p:spPr>
          <a:xfrm>
            <a:off x="1935718" y="4452104"/>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2C2821"/>
                </a:solidFill>
                <a:latin typeface="Prata" pitchFamily="34" charset="0"/>
                <a:ea typeface="Prata" pitchFamily="34" charset="-122"/>
                <a:cs typeface="Prata" pitchFamily="34" charset="-120"/>
              </a:rPr>
              <a:t>Parallelize</a:t>
            </a:r>
            <a:endParaRPr lang="en-US" sz="1950" dirty="0"/>
          </a:p>
        </p:txBody>
      </p:sp>
      <p:sp>
        <p:nvSpPr>
          <p:cNvPr id="20" name="Text 18"/>
          <p:cNvSpPr/>
          <p:nvPr/>
        </p:nvSpPr>
        <p:spPr>
          <a:xfrm>
            <a:off x="1935718" y="4873347"/>
            <a:ext cx="11990784" cy="303490"/>
          </a:xfrm>
          <a:prstGeom prst="rect">
            <a:avLst/>
          </a:prstGeom>
          <a:noFill/>
          <a:ln/>
        </p:spPr>
        <p:txBody>
          <a:bodyPr wrap="none" lIns="0" tIns="0" rIns="0" bIns="0" rtlCol="0" anchor="t"/>
          <a:lstStyle/>
          <a:p>
            <a:pPr marL="0" indent="0" algn="l">
              <a:lnSpc>
                <a:spcPts val="2350"/>
              </a:lnSpc>
              <a:buNone/>
            </a:pPr>
            <a:r>
              <a:rPr lang="en-US" sz="1550" dirty="0">
                <a:solidFill>
                  <a:srgbClr val="2C2821"/>
                </a:solidFill>
                <a:latin typeface="PT Serif" pitchFamily="34" charset="0"/>
                <a:ea typeface="PT Serif" pitchFamily="34" charset="-122"/>
                <a:cs typeface="PT Serif" pitchFamily="34" charset="-120"/>
              </a:rPr>
              <a:t>Tests run in parallel using multiple threads</a:t>
            </a:r>
            <a:endParaRPr lang="en-US" sz="1550" dirty="0"/>
          </a:p>
        </p:txBody>
      </p:sp>
      <p:sp>
        <p:nvSpPr>
          <p:cNvPr id="21" name="Shape 19"/>
          <p:cNvSpPr/>
          <p:nvPr/>
        </p:nvSpPr>
        <p:spPr>
          <a:xfrm>
            <a:off x="1133475" y="5748218"/>
            <a:ext cx="603290" cy="22860"/>
          </a:xfrm>
          <a:prstGeom prst="roundRect">
            <a:avLst>
              <a:gd name="adj" fmla="val 131974"/>
            </a:avLst>
          </a:prstGeom>
          <a:solidFill>
            <a:srgbClr val="3C9E67"/>
          </a:solidFill>
          <a:ln/>
        </p:spPr>
      </p:sp>
      <p:sp>
        <p:nvSpPr>
          <p:cNvPr id="22" name="Shape 20"/>
          <p:cNvSpPr/>
          <p:nvPr/>
        </p:nvSpPr>
        <p:spPr>
          <a:xfrm>
            <a:off x="703898" y="5533430"/>
            <a:ext cx="452437" cy="452438"/>
          </a:xfrm>
          <a:prstGeom prst="roundRect">
            <a:avLst>
              <a:gd name="adj" fmla="val 6668"/>
            </a:avLst>
          </a:prstGeom>
          <a:solidFill>
            <a:srgbClr val="23854E"/>
          </a:solidFill>
          <a:ln/>
        </p:spPr>
      </p:sp>
      <p:sp>
        <p:nvSpPr>
          <p:cNvPr id="23" name="Text 21"/>
          <p:cNvSpPr/>
          <p:nvPr/>
        </p:nvSpPr>
        <p:spPr>
          <a:xfrm>
            <a:off x="790752" y="5646658"/>
            <a:ext cx="301585" cy="377071"/>
          </a:xfrm>
          <a:prstGeom prst="rect">
            <a:avLst/>
          </a:prstGeom>
          <a:noFill/>
          <a:ln/>
        </p:spPr>
        <p:txBody>
          <a:bodyPr wrap="none" lIns="0" tIns="0" rIns="0" bIns="0" rtlCol="0" anchor="t"/>
          <a:lstStyle/>
          <a:p>
            <a:pPr marL="0" indent="0" algn="ctr">
              <a:lnSpc>
                <a:spcPts val="2350"/>
              </a:lnSpc>
              <a:buNone/>
            </a:pPr>
            <a:r>
              <a:rPr lang="en-US" sz="2350" dirty="0">
                <a:solidFill>
                  <a:srgbClr val="FFFFFF"/>
                </a:solidFill>
                <a:latin typeface="Prata" pitchFamily="34" charset="0"/>
                <a:ea typeface="Prata" pitchFamily="34" charset="-122"/>
                <a:cs typeface="Prata" pitchFamily="34" charset="-120"/>
              </a:rPr>
              <a:t>4</a:t>
            </a:r>
            <a:endParaRPr lang="en-US" sz="2350" dirty="0"/>
          </a:p>
        </p:txBody>
      </p:sp>
      <p:sp>
        <p:nvSpPr>
          <p:cNvPr id="24" name="Text 22"/>
          <p:cNvSpPr/>
          <p:nvPr/>
        </p:nvSpPr>
        <p:spPr>
          <a:xfrm>
            <a:off x="1935718" y="5602486"/>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2C2821"/>
                </a:solidFill>
                <a:latin typeface="Prata" pitchFamily="34" charset="0"/>
                <a:ea typeface="Prata" pitchFamily="34" charset="-122"/>
                <a:cs typeface="Prata" pitchFamily="34" charset="-120"/>
              </a:rPr>
              <a:t>Persist</a:t>
            </a:r>
            <a:endParaRPr lang="en-US" sz="1950" dirty="0"/>
          </a:p>
        </p:txBody>
      </p:sp>
      <p:sp>
        <p:nvSpPr>
          <p:cNvPr id="25" name="Text 23"/>
          <p:cNvSpPr/>
          <p:nvPr/>
        </p:nvSpPr>
        <p:spPr>
          <a:xfrm>
            <a:off x="1935718" y="6023729"/>
            <a:ext cx="11990784" cy="303490"/>
          </a:xfrm>
          <a:prstGeom prst="rect">
            <a:avLst/>
          </a:prstGeom>
          <a:noFill/>
          <a:ln/>
        </p:spPr>
        <p:txBody>
          <a:bodyPr wrap="none" lIns="0" tIns="0" rIns="0" bIns="0" rtlCol="0" anchor="t"/>
          <a:lstStyle/>
          <a:p>
            <a:pPr marL="0" indent="0" algn="l">
              <a:lnSpc>
                <a:spcPts val="2350"/>
              </a:lnSpc>
              <a:buNone/>
            </a:pPr>
            <a:r>
              <a:rPr lang="en-US" sz="1550" dirty="0">
                <a:solidFill>
                  <a:srgbClr val="2C2821"/>
                </a:solidFill>
                <a:latin typeface="PT Serif" pitchFamily="34" charset="0"/>
                <a:ea typeface="PT Serif" pitchFamily="34" charset="-122"/>
                <a:cs typeface="PT Serif" pitchFamily="34" charset="-120"/>
              </a:rPr>
              <a:t>Test results are stored in MySQL</a:t>
            </a:r>
            <a:endParaRPr lang="en-US" sz="1550" dirty="0"/>
          </a:p>
        </p:txBody>
      </p:sp>
      <p:sp>
        <p:nvSpPr>
          <p:cNvPr id="26" name="Shape 24"/>
          <p:cNvSpPr/>
          <p:nvPr/>
        </p:nvSpPr>
        <p:spPr>
          <a:xfrm>
            <a:off x="1133475" y="6898600"/>
            <a:ext cx="603290" cy="22860"/>
          </a:xfrm>
          <a:prstGeom prst="roundRect">
            <a:avLst>
              <a:gd name="adj" fmla="val 131974"/>
            </a:avLst>
          </a:prstGeom>
          <a:solidFill>
            <a:srgbClr val="3C9E67"/>
          </a:solidFill>
          <a:ln/>
        </p:spPr>
      </p:sp>
      <p:sp>
        <p:nvSpPr>
          <p:cNvPr id="27" name="Shape 25"/>
          <p:cNvSpPr/>
          <p:nvPr/>
        </p:nvSpPr>
        <p:spPr>
          <a:xfrm>
            <a:off x="703898" y="6683812"/>
            <a:ext cx="452437" cy="452438"/>
          </a:xfrm>
          <a:prstGeom prst="roundRect">
            <a:avLst>
              <a:gd name="adj" fmla="val 6668"/>
            </a:avLst>
          </a:prstGeom>
          <a:solidFill>
            <a:srgbClr val="23854E"/>
          </a:solidFill>
          <a:ln/>
        </p:spPr>
      </p:sp>
      <p:sp>
        <p:nvSpPr>
          <p:cNvPr id="28" name="Text 26"/>
          <p:cNvSpPr/>
          <p:nvPr/>
        </p:nvSpPr>
        <p:spPr>
          <a:xfrm>
            <a:off x="779324" y="6797040"/>
            <a:ext cx="301585" cy="377071"/>
          </a:xfrm>
          <a:prstGeom prst="rect">
            <a:avLst/>
          </a:prstGeom>
          <a:noFill/>
          <a:ln/>
        </p:spPr>
        <p:txBody>
          <a:bodyPr wrap="none" lIns="0" tIns="0" rIns="0" bIns="0" rtlCol="0" anchor="t"/>
          <a:lstStyle/>
          <a:p>
            <a:pPr marL="0" indent="0" algn="ctr">
              <a:lnSpc>
                <a:spcPts val="2350"/>
              </a:lnSpc>
              <a:buNone/>
            </a:pPr>
            <a:r>
              <a:rPr lang="en-US" sz="2350" dirty="0">
                <a:solidFill>
                  <a:srgbClr val="FFFFFF"/>
                </a:solidFill>
                <a:latin typeface="Prata" pitchFamily="34" charset="0"/>
                <a:ea typeface="Prata" pitchFamily="34" charset="-122"/>
                <a:cs typeface="Prata" pitchFamily="34" charset="-120"/>
              </a:rPr>
              <a:t>5</a:t>
            </a:r>
            <a:endParaRPr lang="en-US" sz="2350" dirty="0"/>
          </a:p>
        </p:txBody>
      </p:sp>
      <p:sp>
        <p:nvSpPr>
          <p:cNvPr id="29" name="Text 27"/>
          <p:cNvSpPr/>
          <p:nvPr/>
        </p:nvSpPr>
        <p:spPr>
          <a:xfrm>
            <a:off x="1935718" y="6752868"/>
            <a:ext cx="2514005" cy="314325"/>
          </a:xfrm>
          <a:prstGeom prst="rect">
            <a:avLst/>
          </a:prstGeom>
          <a:noFill/>
          <a:ln/>
        </p:spPr>
        <p:txBody>
          <a:bodyPr wrap="none" lIns="0" tIns="0" rIns="0" bIns="0" rtlCol="0" anchor="t"/>
          <a:lstStyle/>
          <a:p>
            <a:pPr marL="0" indent="0" algn="l">
              <a:lnSpc>
                <a:spcPts val="2450"/>
              </a:lnSpc>
              <a:buNone/>
            </a:pPr>
            <a:r>
              <a:rPr lang="en-US" sz="1950" dirty="0">
                <a:solidFill>
                  <a:srgbClr val="2C2821"/>
                </a:solidFill>
                <a:latin typeface="Prata" pitchFamily="34" charset="0"/>
                <a:ea typeface="Prata" pitchFamily="34" charset="-122"/>
                <a:cs typeface="Prata" pitchFamily="34" charset="-120"/>
              </a:rPr>
              <a:t>Report</a:t>
            </a:r>
            <a:endParaRPr lang="en-US" sz="1950" dirty="0"/>
          </a:p>
        </p:txBody>
      </p:sp>
      <p:sp>
        <p:nvSpPr>
          <p:cNvPr id="30" name="Text 28"/>
          <p:cNvSpPr/>
          <p:nvPr/>
        </p:nvSpPr>
        <p:spPr>
          <a:xfrm>
            <a:off x="1935718" y="7174111"/>
            <a:ext cx="11990784" cy="303490"/>
          </a:xfrm>
          <a:prstGeom prst="rect">
            <a:avLst/>
          </a:prstGeom>
          <a:noFill/>
          <a:ln/>
        </p:spPr>
        <p:txBody>
          <a:bodyPr wrap="none" lIns="0" tIns="0" rIns="0" bIns="0" rtlCol="0" anchor="t"/>
          <a:lstStyle/>
          <a:p>
            <a:pPr marL="0" indent="0" algn="l">
              <a:lnSpc>
                <a:spcPts val="2350"/>
              </a:lnSpc>
              <a:buNone/>
            </a:pPr>
            <a:r>
              <a:rPr lang="en-US" sz="1550" dirty="0">
                <a:solidFill>
                  <a:srgbClr val="2C2821"/>
                </a:solidFill>
                <a:latin typeface="PT Serif" pitchFamily="34" charset="0"/>
                <a:ea typeface="PT Serif" pitchFamily="34" charset="-122"/>
                <a:cs typeface="PT Serif" pitchFamily="34" charset="-120"/>
              </a:rPr>
              <a:t>Reports and logs are generated for analysis</a:t>
            </a:r>
            <a:endParaRPr lang="en-US" sz="1550" dirty="0"/>
          </a:p>
        </p:txBody>
      </p:sp>
      <p:pic>
        <p:nvPicPr>
          <p:cNvPr id="31" name="Picture 30">
            <a:extLst>
              <a:ext uri="{FF2B5EF4-FFF2-40B4-BE49-F238E27FC236}">
                <a16:creationId xmlns:a16="http://schemas.microsoft.com/office/drawing/2014/main" id="{A917F57F-9BC4-5E64-F669-59B0E177D31B}"/>
              </a:ext>
            </a:extLst>
          </p:cNvPr>
          <p:cNvPicPr>
            <a:picLocks noChangeAspect="1"/>
          </p:cNvPicPr>
          <p:nvPr/>
        </p:nvPicPr>
        <p:blipFill>
          <a:blip r:embed="rId3"/>
          <a:stretch>
            <a:fillRect/>
          </a:stretch>
        </p:blipFill>
        <p:spPr>
          <a:xfrm>
            <a:off x="12901961" y="7351401"/>
            <a:ext cx="1640137" cy="800140"/>
          </a:xfrm>
          <a:prstGeom prst="rect">
            <a:avLst/>
          </a:prstGeom>
        </p:spPr>
      </p:pic>
      <p:pic>
        <p:nvPicPr>
          <p:cNvPr id="32" name="Picture 31">
            <a:extLst>
              <a:ext uri="{FF2B5EF4-FFF2-40B4-BE49-F238E27FC236}">
                <a16:creationId xmlns:a16="http://schemas.microsoft.com/office/drawing/2014/main" id="{4128AC34-A8C4-5AE3-F7B4-00F988C76B89}"/>
              </a:ext>
            </a:extLst>
          </p:cNvPr>
          <p:cNvPicPr>
            <a:picLocks noChangeAspect="1"/>
          </p:cNvPicPr>
          <p:nvPr/>
        </p:nvPicPr>
        <p:blipFill>
          <a:blip r:embed="rId4"/>
          <a:stretch>
            <a:fillRect/>
          </a:stretch>
        </p:blipFill>
        <p:spPr>
          <a:xfrm>
            <a:off x="12328803" y="149948"/>
            <a:ext cx="2105319" cy="1362265"/>
          </a:xfrm>
          <a:prstGeom prst="rect">
            <a:avLst/>
          </a:prstGeom>
        </p:spPr>
      </p:pic>
      <p:pic>
        <p:nvPicPr>
          <p:cNvPr id="33" name="Image 1">
            <a:extLst>
              <a:ext uri="{FF2B5EF4-FFF2-40B4-BE49-F238E27FC236}">
                <a16:creationId xmlns:a16="http://schemas.microsoft.com/office/drawing/2014/main" id="{D8EBBE61-BEA6-AFCE-0465-E1A5AAD4AEE1}"/>
              </a:ext>
            </a:extLst>
          </p:cNvPr>
          <p:cNvPicPr>
            <a:picLocks noChangeAspect="1"/>
          </p:cNvPicPr>
          <p:nvPr/>
        </p:nvPicPr>
        <p:blipFill>
          <a:blip r:embed="rId5"/>
          <a:srcRect/>
          <a:stretch/>
        </p:blipFill>
        <p:spPr>
          <a:xfrm>
            <a:off x="8055401" y="1295302"/>
            <a:ext cx="3595759" cy="58409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1" name="Shape 0">
            <a:extLst>
              <a:ext uri="{FF2B5EF4-FFF2-40B4-BE49-F238E27FC236}">
                <a16:creationId xmlns:a16="http://schemas.microsoft.com/office/drawing/2014/main" id="{97A19C1F-10FF-24EE-F7CA-F8131C119F41}"/>
              </a:ext>
            </a:extLst>
          </p:cNvPr>
          <p:cNvSpPr/>
          <p:nvPr/>
        </p:nvSpPr>
        <p:spPr>
          <a:xfrm>
            <a:off x="1410871" y="349631"/>
            <a:ext cx="1033105" cy="269677"/>
          </a:xfrm>
          <a:prstGeom prst="roundRect">
            <a:avLst>
              <a:gd name="adj" fmla="val 6644"/>
            </a:avLst>
          </a:prstGeom>
          <a:solidFill>
            <a:srgbClr val="D7F4E4"/>
          </a:solidFill>
          <a:ln/>
        </p:spPr>
      </p:sp>
      <p:sp>
        <p:nvSpPr>
          <p:cNvPr id="3" name="Text 1"/>
          <p:cNvSpPr/>
          <p:nvPr/>
        </p:nvSpPr>
        <p:spPr>
          <a:xfrm>
            <a:off x="1509930" y="420770"/>
            <a:ext cx="834985" cy="162997"/>
          </a:xfrm>
          <a:prstGeom prst="rect">
            <a:avLst/>
          </a:prstGeom>
          <a:noFill/>
          <a:ln/>
        </p:spPr>
        <p:txBody>
          <a:bodyPr wrap="none" lIns="0" tIns="0" rIns="0" bIns="0" rtlCol="0" anchor="t"/>
          <a:lstStyle/>
          <a:p>
            <a:pPr marL="0" indent="0" algn="l">
              <a:lnSpc>
                <a:spcPts val="1250"/>
              </a:lnSpc>
              <a:buNone/>
            </a:pPr>
            <a:r>
              <a:rPr lang="en-US" sz="950" dirty="0">
                <a:solidFill>
                  <a:srgbClr val="23854E"/>
                </a:solidFill>
                <a:latin typeface="PT Serif" pitchFamily="34" charset="0"/>
                <a:ea typeface="PT Serif" pitchFamily="34" charset="-122"/>
                <a:cs typeface="PT Serif" pitchFamily="34" charset="-120"/>
              </a:rPr>
              <a:t>SCREENSHOTS</a:t>
            </a:r>
            <a:endParaRPr lang="en-US" sz="950" dirty="0"/>
          </a:p>
        </p:txBody>
      </p:sp>
      <p:sp>
        <p:nvSpPr>
          <p:cNvPr id="4" name="Text 2"/>
          <p:cNvSpPr/>
          <p:nvPr/>
        </p:nvSpPr>
        <p:spPr>
          <a:xfrm>
            <a:off x="1389886" y="750213"/>
            <a:ext cx="3849648" cy="476250"/>
          </a:xfrm>
          <a:prstGeom prst="rect">
            <a:avLst/>
          </a:prstGeom>
          <a:noFill/>
          <a:ln/>
        </p:spPr>
        <p:txBody>
          <a:bodyPr wrap="none" lIns="0" tIns="0" rIns="0" bIns="0" rtlCol="0" anchor="t"/>
          <a:lstStyle/>
          <a:p>
            <a:pPr marL="0" indent="0" algn="l">
              <a:lnSpc>
                <a:spcPts val="3750"/>
              </a:lnSpc>
              <a:buNone/>
            </a:pPr>
            <a:r>
              <a:rPr lang="en-US" sz="3000" dirty="0">
                <a:solidFill>
                  <a:srgbClr val="233E32"/>
                </a:solidFill>
                <a:latin typeface="Prata" pitchFamily="34" charset="0"/>
                <a:ea typeface="Prata" pitchFamily="34" charset="-122"/>
                <a:cs typeface="Prata" pitchFamily="34" charset="-120"/>
              </a:rPr>
              <a:t>Framework in Action</a:t>
            </a:r>
            <a:endParaRPr lang="en-US" sz="3000" dirty="0"/>
          </a:p>
        </p:txBody>
      </p:sp>
      <p:pic>
        <p:nvPicPr>
          <p:cNvPr id="5" name="Image 0" descr="preencoded.png"/>
          <p:cNvPicPr>
            <a:picLocks noChangeAspect="1"/>
          </p:cNvPicPr>
          <p:nvPr/>
        </p:nvPicPr>
        <p:blipFill>
          <a:blip r:embed="rId3"/>
          <a:stretch>
            <a:fillRect/>
          </a:stretch>
        </p:blipFill>
        <p:spPr>
          <a:xfrm>
            <a:off x="1304694" y="1359575"/>
            <a:ext cx="4491984" cy="2311241"/>
          </a:xfrm>
          <a:prstGeom prst="rect">
            <a:avLst/>
          </a:prstGeom>
        </p:spPr>
      </p:pic>
      <p:sp>
        <p:nvSpPr>
          <p:cNvPr id="6" name="Text 3"/>
          <p:cNvSpPr/>
          <p:nvPr/>
        </p:nvSpPr>
        <p:spPr>
          <a:xfrm>
            <a:off x="1431131" y="3776406"/>
            <a:ext cx="1905119" cy="238125"/>
          </a:xfrm>
          <a:prstGeom prst="rect">
            <a:avLst/>
          </a:prstGeom>
          <a:noFill/>
          <a:ln/>
        </p:spPr>
        <p:txBody>
          <a:bodyPr wrap="none" lIns="0" tIns="0" rIns="0" bIns="0" rtlCol="0" anchor="t"/>
          <a:lstStyle/>
          <a:p>
            <a:pPr marL="0" indent="0" algn="l">
              <a:lnSpc>
                <a:spcPts val="1850"/>
              </a:lnSpc>
              <a:buNone/>
            </a:pPr>
            <a:r>
              <a:rPr lang="en-US" sz="1500" b="1" dirty="0">
                <a:solidFill>
                  <a:srgbClr val="2C2821"/>
                </a:solidFill>
                <a:latin typeface="Prata" pitchFamily="34" charset="0"/>
                <a:ea typeface="Prata" pitchFamily="34" charset="-122"/>
                <a:cs typeface="Prata" pitchFamily="34" charset="-120"/>
              </a:rPr>
              <a:t>UI Test Execution</a:t>
            </a:r>
            <a:endParaRPr lang="en-US" sz="1500" b="1" dirty="0"/>
          </a:p>
        </p:txBody>
      </p:sp>
      <p:sp>
        <p:nvSpPr>
          <p:cNvPr id="7" name="Text 4"/>
          <p:cNvSpPr/>
          <p:nvPr/>
        </p:nvSpPr>
        <p:spPr>
          <a:xfrm>
            <a:off x="1431131" y="4098369"/>
            <a:ext cx="5471474" cy="407670"/>
          </a:xfrm>
          <a:prstGeom prst="rect">
            <a:avLst/>
          </a:prstGeom>
          <a:noFill/>
          <a:ln/>
        </p:spPr>
        <p:txBody>
          <a:bodyPr wrap="square" lIns="0" tIns="0" rIns="0" bIns="0" rtlCol="0" anchor="t"/>
          <a:lstStyle/>
          <a:p>
            <a:pPr marL="0" indent="0" algn="l">
              <a:lnSpc>
                <a:spcPts val="1600"/>
              </a:lnSpc>
              <a:buNone/>
            </a:pPr>
            <a:r>
              <a:rPr lang="en-US" sz="1600" dirty="0">
                <a:solidFill>
                  <a:srgbClr val="2C2821"/>
                </a:solidFill>
                <a:latin typeface="PT Serif" pitchFamily="34" charset="0"/>
                <a:ea typeface="PT Serif" pitchFamily="34" charset="-122"/>
                <a:cs typeface="PT Serif" pitchFamily="34" charset="-120"/>
              </a:rPr>
              <a:t>Selenium drives browser interactions end-to-end, capturing screenshots on failure for immediate visual debugging.</a:t>
            </a:r>
            <a:endParaRPr lang="en-US" sz="1600" dirty="0"/>
          </a:p>
        </p:txBody>
      </p:sp>
      <p:pic>
        <p:nvPicPr>
          <p:cNvPr id="8" name="Image 1" descr="preencoded.png"/>
          <p:cNvPicPr>
            <a:picLocks noChangeAspect="1"/>
          </p:cNvPicPr>
          <p:nvPr/>
        </p:nvPicPr>
        <p:blipFill>
          <a:blip r:embed="rId4"/>
          <a:stretch>
            <a:fillRect/>
          </a:stretch>
        </p:blipFill>
        <p:spPr>
          <a:xfrm>
            <a:off x="7379136" y="1359575"/>
            <a:ext cx="4028561" cy="2311360"/>
          </a:xfrm>
          <a:prstGeom prst="rect">
            <a:avLst/>
          </a:prstGeom>
        </p:spPr>
      </p:pic>
      <p:sp>
        <p:nvSpPr>
          <p:cNvPr id="9" name="Text 5"/>
          <p:cNvSpPr/>
          <p:nvPr/>
        </p:nvSpPr>
        <p:spPr>
          <a:xfrm>
            <a:off x="7379137" y="3798927"/>
            <a:ext cx="1905119" cy="238125"/>
          </a:xfrm>
          <a:prstGeom prst="rect">
            <a:avLst/>
          </a:prstGeom>
          <a:noFill/>
          <a:ln/>
        </p:spPr>
        <p:txBody>
          <a:bodyPr wrap="none" lIns="0" tIns="0" rIns="0" bIns="0" rtlCol="0" anchor="t"/>
          <a:lstStyle/>
          <a:p>
            <a:pPr marL="0" indent="0" algn="l">
              <a:lnSpc>
                <a:spcPts val="1850"/>
              </a:lnSpc>
              <a:buNone/>
            </a:pPr>
            <a:r>
              <a:rPr lang="en-US" sz="1500" b="1" dirty="0">
                <a:solidFill>
                  <a:srgbClr val="2C2821"/>
                </a:solidFill>
                <a:latin typeface="Prata" pitchFamily="34" charset="0"/>
                <a:ea typeface="Prata" pitchFamily="34" charset="-122"/>
                <a:cs typeface="Prata" pitchFamily="34" charset="-120"/>
              </a:rPr>
              <a:t>API Test Validation</a:t>
            </a:r>
            <a:endParaRPr lang="en-US" sz="1500" b="1" dirty="0"/>
          </a:p>
        </p:txBody>
      </p:sp>
      <p:sp>
        <p:nvSpPr>
          <p:cNvPr id="10" name="Text 6"/>
          <p:cNvSpPr/>
          <p:nvPr/>
        </p:nvSpPr>
        <p:spPr>
          <a:xfrm>
            <a:off x="7379137" y="4098488"/>
            <a:ext cx="5194340" cy="407670"/>
          </a:xfrm>
          <a:prstGeom prst="rect">
            <a:avLst/>
          </a:prstGeom>
          <a:noFill/>
          <a:ln/>
        </p:spPr>
        <p:txBody>
          <a:bodyPr wrap="square" lIns="0" tIns="0" rIns="0" bIns="0" rtlCol="0" anchor="t"/>
          <a:lstStyle/>
          <a:p>
            <a:pPr marL="0" indent="0" algn="l">
              <a:lnSpc>
                <a:spcPts val="1600"/>
              </a:lnSpc>
              <a:buNone/>
            </a:pPr>
            <a:r>
              <a:rPr lang="en-US" sz="1600" dirty="0">
                <a:solidFill>
                  <a:srgbClr val="2C2821"/>
                </a:solidFill>
                <a:latin typeface="PT Serif" pitchFamily="34" charset="0"/>
                <a:ea typeface="PT Serif" pitchFamily="34" charset="-122"/>
                <a:cs typeface="PT Serif" pitchFamily="34" charset="-120"/>
              </a:rPr>
              <a:t>REST-Assured validates response bodies, status codes, and headers with expressive, readable assertion chains.</a:t>
            </a:r>
            <a:endParaRPr lang="en-US" sz="1600" dirty="0"/>
          </a:p>
        </p:txBody>
      </p:sp>
      <p:sp>
        <p:nvSpPr>
          <p:cNvPr id="12" name="Text 7"/>
          <p:cNvSpPr/>
          <p:nvPr/>
        </p:nvSpPr>
        <p:spPr>
          <a:xfrm>
            <a:off x="1431131" y="7060525"/>
            <a:ext cx="1971318" cy="238125"/>
          </a:xfrm>
          <a:prstGeom prst="rect">
            <a:avLst/>
          </a:prstGeom>
          <a:noFill/>
          <a:ln/>
        </p:spPr>
        <p:txBody>
          <a:bodyPr wrap="none" lIns="0" tIns="0" rIns="0" bIns="0" rtlCol="0" anchor="t"/>
          <a:lstStyle/>
          <a:p>
            <a:pPr marL="0" indent="0" algn="l">
              <a:lnSpc>
                <a:spcPts val="1850"/>
              </a:lnSpc>
              <a:buNone/>
            </a:pPr>
            <a:r>
              <a:rPr lang="en-US" sz="1500" b="1" dirty="0">
                <a:solidFill>
                  <a:srgbClr val="2C2821"/>
                </a:solidFill>
                <a:latin typeface="Prata" pitchFamily="34" charset="0"/>
                <a:ea typeface="Prata" pitchFamily="34" charset="-122"/>
                <a:cs typeface="Prata" pitchFamily="34" charset="-120"/>
              </a:rPr>
              <a:t>Database Persistence</a:t>
            </a:r>
            <a:endParaRPr lang="en-US" sz="1500" b="1" dirty="0"/>
          </a:p>
        </p:txBody>
      </p:sp>
      <p:sp>
        <p:nvSpPr>
          <p:cNvPr id="13" name="Text 8"/>
          <p:cNvSpPr/>
          <p:nvPr/>
        </p:nvSpPr>
        <p:spPr>
          <a:xfrm>
            <a:off x="1431131" y="7381169"/>
            <a:ext cx="5194221" cy="407670"/>
          </a:xfrm>
          <a:prstGeom prst="rect">
            <a:avLst/>
          </a:prstGeom>
          <a:noFill/>
          <a:ln/>
        </p:spPr>
        <p:txBody>
          <a:bodyPr wrap="square" lIns="0" tIns="0" rIns="0" bIns="0" rtlCol="0" anchor="t"/>
          <a:lstStyle/>
          <a:p>
            <a:pPr marL="0" indent="0" algn="l">
              <a:lnSpc>
                <a:spcPts val="1600"/>
              </a:lnSpc>
              <a:buNone/>
            </a:pPr>
            <a:r>
              <a:rPr lang="en-US" sz="1600" dirty="0">
                <a:solidFill>
                  <a:srgbClr val="2C2821"/>
                </a:solidFill>
                <a:latin typeface="PT Serif" pitchFamily="34" charset="0"/>
                <a:ea typeface="PT Serif" pitchFamily="34" charset="-122"/>
                <a:cs typeface="PT Serif" pitchFamily="34" charset="-120"/>
              </a:rPr>
              <a:t>Every test result is written to structured MySQL tables, enabling long-term trend analysis and audit trails.</a:t>
            </a:r>
            <a:endParaRPr lang="en-US" sz="1600" dirty="0"/>
          </a:p>
        </p:txBody>
      </p:sp>
      <p:pic>
        <p:nvPicPr>
          <p:cNvPr id="14" name="Image 3"/>
          <p:cNvPicPr>
            <a:picLocks noChangeAspect="1"/>
          </p:cNvPicPr>
          <p:nvPr/>
        </p:nvPicPr>
        <p:blipFill>
          <a:blip r:embed="rId5"/>
          <a:srcRect/>
          <a:stretch/>
        </p:blipFill>
        <p:spPr>
          <a:xfrm>
            <a:off x="7414319" y="4707080"/>
            <a:ext cx="4116041" cy="2152642"/>
          </a:xfrm>
          <a:prstGeom prst="rect">
            <a:avLst/>
          </a:prstGeom>
        </p:spPr>
      </p:pic>
      <p:sp>
        <p:nvSpPr>
          <p:cNvPr id="15" name="Text 9"/>
          <p:cNvSpPr/>
          <p:nvPr/>
        </p:nvSpPr>
        <p:spPr>
          <a:xfrm>
            <a:off x="7379137" y="7060644"/>
            <a:ext cx="1905119" cy="238125"/>
          </a:xfrm>
          <a:prstGeom prst="rect">
            <a:avLst/>
          </a:prstGeom>
          <a:noFill/>
          <a:ln/>
        </p:spPr>
        <p:txBody>
          <a:bodyPr wrap="none" lIns="0" tIns="0" rIns="0" bIns="0" rtlCol="0" anchor="t"/>
          <a:lstStyle/>
          <a:p>
            <a:pPr marL="0" indent="0" algn="l">
              <a:lnSpc>
                <a:spcPts val="1850"/>
              </a:lnSpc>
              <a:buNone/>
            </a:pPr>
            <a:r>
              <a:rPr lang="en-US" sz="1500" b="1" dirty="0">
                <a:solidFill>
                  <a:srgbClr val="2C2821"/>
                </a:solidFill>
                <a:latin typeface="Prata" pitchFamily="34" charset="0"/>
                <a:ea typeface="Prata" pitchFamily="34" charset="-122"/>
                <a:cs typeface="Prata" pitchFamily="34" charset="-120"/>
              </a:rPr>
              <a:t>Report Output</a:t>
            </a:r>
            <a:endParaRPr lang="en-US" sz="1500" b="1" dirty="0"/>
          </a:p>
        </p:txBody>
      </p:sp>
      <p:sp>
        <p:nvSpPr>
          <p:cNvPr id="16" name="Text 10"/>
          <p:cNvSpPr/>
          <p:nvPr/>
        </p:nvSpPr>
        <p:spPr>
          <a:xfrm>
            <a:off x="7379137" y="7360206"/>
            <a:ext cx="5194340" cy="407670"/>
          </a:xfrm>
          <a:prstGeom prst="rect">
            <a:avLst/>
          </a:prstGeom>
          <a:noFill/>
          <a:ln/>
        </p:spPr>
        <p:txBody>
          <a:bodyPr wrap="square" lIns="0" tIns="0" rIns="0" bIns="0" rtlCol="0" anchor="t"/>
          <a:lstStyle/>
          <a:p>
            <a:pPr marL="0" indent="0" algn="l">
              <a:lnSpc>
                <a:spcPts val="1600"/>
              </a:lnSpc>
              <a:buNone/>
            </a:pPr>
            <a:r>
              <a:rPr lang="en-US" sz="1600" dirty="0">
                <a:solidFill>
                  <a:srgbClr val="2C2821"/>
                </a:solidFill>
                <a:latin typeface="PT Serif" pitchFamily="34" charset="0"/>
                <a:ea typeface="PT Serif" pitchFamily="34" charset="-122"/>
                <a:cs typeface="PT Serif" pitchFamily="34" charset="-120"/>
              </a:rPr>
              <a:t>Rich HTML reports summarize suite results at a glance with drill-down detail per test case and step</a:t>
            </a:r>
            <a:r>
              <a:rPr lang="en-US" sz="1200" dirty="0">
                <a:solidFill>
                  <a:srgbClr val="2C2821"/>
                </a:solidFill>
                <a:latin typeface="PT Serif" pitchFamily="34" charset="0"/>
                <a:ea typeface="PT Serif" pitchFamily="34" charset="-122"/>
                <a:cs typeface="PT Serif" pitchFamily="34" charset="-120"/>
              </a:rPr>
              <a:t>.</a:t>
            </a:r>
            <a:endParaRPr lang="en-US" sz="1200" dirty="0"/>
          </a:p>
        </p:txBody>
      </p:sp>
      <p:pic>
        <p:nvPicPr>
          <p:cNvPr id="17" name="Picture 16">
            <a:extLst>
              <a:ext uri="{FF2B5EF4-FFF2-40B4-BE49-F238E27FC236}">
                <a16:creationId xmlns:a16="http://schemas.microsoft.com/office/drawing/2014/main" id="{CB19DD1A-89C7-5099-4964-3D7563F25A9C}"/>
              </a:ext>
            </a:extLst>
          </p:cNvPr>
          <p:cNvPicPr>
            <a:picLocks noChangeAspect="1"/>
          </p:cNvPicPr>
          <p:nvPr/>
        </p:nvPicPr>
        <p:blipFill>
          <a:blip r:embed="rId6"/>
          <a:stretch>
            <a:fillRect/>
          </a:stretch>
        </p:blipFill>
        <p:spPr>
          <a:xfrm>
            <a:off x="12901961" y="7351401"/>
            <a:ext cx="1640137" cy="800140"/>
          </a:xfrm>
          <a:prstGeom prst="rect">
            <a:avLst/>
          </a:prstGeom>
        </p:spPr>
      </p:pic>
      <p:pic>
        <p:nvPicPr>
          <p:cNvPr id="18" name="Picture 17">
            <a:extLst>
              <a:ext uri="{FF2B5EF4-FFF2-40B4-BE49-F238E27FC236}">
                <a16:creationId xmlns:a16="http://schemas.microsoft.com/office/drawing/2014/main" id="{09472CB6-5226-CA18-EC43-2CE7589A0423}"/>
              </a:ext>
            </a:extLst>
          </p:cNvPr>
          <p:cNvPicPr>
            <a:picLocks noChangeAspect="1"/>
          </p:cNvPicPr>
          <p:nvPr/>
        </p:nvPicPr>
        <p:blipFill>
          <a:blip r:embed="rId7"/>
          <a:stretch>
            <a:fillRect/>
          </a:stretch>
        </p:blipFill>
        <p:spPr>
          <a:xfrm>
            <a:off x="12328803" y="149948"/>
            <a:ext cx="2105319" cy="1362265"/>
          </a:xfrm>
          <a:prstGeom prst="rect">
            <a:avLst/>
          </a:prstGeom>
        </p:spPr>
      </p:pic>
      <p:pic>
        <p:nvPicPr>
          <p:cNvPr id="20" name="Picture 19">
            <a:extLst>
              <a:ext uri="{FF2B5EF4-FFF2-40B4-BE49-F238E27FC236}">
                <a16:creationId xmlns:a16="http://schemas.microsoft.com/office/drawing/2014/main" id="{CA0D3BA3-D32F-C7D0-D03B-46CF18389BFB}"/>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rcRect b="14306"/>
          <a:stretch>
            <a:fillRect/>
          </a:stretch>
        </p:blipFill>
        <p:spPr>
          <a:xfrm>
            <a:off x="1389886" y="4621529"/>
            <a:ext cx="4491984" cy="21526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1"/>
          <p:cNvPicPr>
            <a:picLocks noChangeAspect="1"/>
          </p:cNvPicPr>
          <p:nvPr/>
        </p:nvPicPr>
        <p:blipFill>
          <a:blip r:embed="rId3"/>
          <a:srcRect l="-768" t="-1345" r="768" b="-1923"/>
          <a:stretch>
            <a:fillRect/>
          </a:stretch>
        </p:blipFill>
        <p:spPr>
          <a:xfrm>
            <a:off x="8651296" y="1776333"/>
            <a:ext cx="4026223" cy="5941695"/>
          </a:xfrm>
          <a:prstGeom prst="rect">
            <a:avLst/>
          </a:prstGeom>
        </p:spPr>
      </p:pic>
      <p:sp>
        <p:nvSpPr>
          <p:cNvPr id="4" name="Shape 0"/>
          <p:cNvSpPr/>
          <p:nvPr/>
        </p:nvSpPr>
        <p:spPr>
          <a:xfrm>
            <a:off x="793790" y="1299091"/>
            <a:ext cx="1417677" cy="426244"/>
          </a:xfrm>
          <a:prstGeom prst="roundRect">
            <a:avLst>
              <a:gd name="adj" fmla="val 6386"/>
            </a:avLst>
          </a:prstGeom>
          <a:solidFill>
            <a:srgbClr val="D7F4E4"/>
          </a:solidFill>
          <a:ln/>
        </p:spPr>
      </p:sp>
      <p:sp>
        <p:nvSpPr>
          <p:cNvPr id="5" name="Text 1"/>
          <p:cNvSpPr/>
          <p:nvPr/>
        </p:nvSpPr>
        <p:spPr>
          <a:xfrm>
            <a:off x="929878" y="1367076"/>
            <a:ext cx="1145500" cy="290274"/>
          </a:xfrm>
          <a:prstGeom prst="rect">
            <a:avLst/>
          </a:prstGeom>
          <a:noFill/>
          <a:ln/>
        </p:spPr>
        <p:txBody>
          <a:bodyPr wrap="none" lIns="0" tIns="0" rIns="0" bIns="0" rtlCol="0" anchor="t"/>
          <a:lstStyle/>
          <a:p>
            <a:pPr marL="0" indent="0" algn="l">
              <a:lnSpc>
                <a:spcPts val="2250"/>
              </a:lnSpc>
              <a:buNone/>
            </a:pPr>
            <a:r>
              <a:rPr lang="en-US" sz="1400" dirty="0">
                <a:solidFill>
                  <a:srgbClr val="2C2821"/>
                </a:solidFill>
                <a:latin typeface="PT Serif" pitchFamily="34" charset="0"/>
                <a:ea typeface="PT Serif" pitchFamily="34" charset="-122"/>
                <a:cs typeface="PT Serif" pitchFamily="34" charset="-120"/>
              </a:rPr>
              <a:t>CONCLUSION</a:t>
            </a:r>
            <a:endParaRPr lang="en-US" sz="1400" dirty="0"/>
          </a:p>
        </p:txBody>
      </p:sp>
      <p:sp>
        <p:nvSpPr>
          <p:cNvPr id="6" name="Text 2"/>
          <p:cNvSpPr/>
          <p:nvPr/>
        </p:nvSpPr>
        <p:spPr>
          <a:xfrm>
            <a:off x="793790" y="181606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233E32"/>
                </a:solidFill>
                <a:latin typeface="Prata" pitchFamily="34" charset="0"/>
                <a:ea typeface="Prata" pitchFamily="34" charset="-122"/>
                <a:cs typeface="Prata" pitchFamily="34" charset="-120"/>
              </a:rPr>
              <a:t>Conclusion</a:t>
            </a:r>
            <a:endParaRPr lang="en-US" sz="4450" dirty="0"/>
          </a:p>
        </p:txBody>
      </p:sp>
      <p:sp>
        <p:nvSpPr>
          <p:cNvPr id="7" name="Shape 3"/>
          <p:cNvSpPr/>
          <p:nvPr/>
        </p:nvSpPr>
        <p:spPr>
          <a:xfrm>
            <a:off x="793790" y="2865001"/>
            <a:ext cx="7556421" cy="4065508"/>
          </a:xfrm>
          <a:prstGeom prst="roundRect">
            <a:avLst>
              <a:gd name="adj" fmla="val 837"/>
            </a:avLst>
          </a:prstGeom>
          <a:solidFill>
            <a:srgbClr val="F3F0C0"/>
          </a:solidFill>
          <a:ln/>
        </p:spPr>
      </p:sp>
      <p:sp>
        <p:nvSpPr>
          <p:cNvPr id="8" name="Shape 4"/>
          <p:cNvSpPr/>
          <p:nvPr/>
        </p:nvSpPr>
        <p:spPr>
          <a:xfrm>
            <a:off x="774514" y="2958206"/>
            <a:ext cx="3778210" cy="2395657"/>
          </a:xfrm>
          <a:prstGeom prst="roundRect">
            <a:avLst>
              <a:gd name="adj" fmla="val 1420"/>
            </a:avLst>
          </a:prstGeom>
          <a:solidFill>
            <a:srgbClr val="F3F0C0"/>
          </a:solidFill>
          <a:ln/>
        </p:spPr>
      </p:sp>
      <p:sp>
        <p:nvSpPr>
          <p:cNvPr id="9" name="Text 5"/>
          <p:cNvSpPr/>
          <p:nvPr/>
        </p:nvSpPr>
        <p:spPr>
          <a:xfrm>
            <a:off x="1371160" y="3081021"/>
            <a:ext cx="2915126"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Automation Achieved</a:t>
            </a:r>
            <a:endParaRPr lang="en-US" sz="2200" dirty="0"/>
          </a:p>
        </p:txBody>
      </p:sp>
      <p:sp>
        <p:nvSpPr>
          <p:cNvPr id="10" name="Text 6"/>
          <p:cNvSpPr/>
          <p:nvPr/>
        </p:nvSpPr>
        <p:spPr>
          <a:xfrm>
            <a:off x="1020604" y="3582233"/>
            <a:ext cx="3324582" cy="1451610"/>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Supports regression testing across UI and API layers with on-demand and scheduled execution.</a:t>
            </a:r>
            <a:endParaRPr lang="en-US" sz="1750" dirty="0"/>
          </a:p>
        </p:txBody>
      </p:sp>
      <p:sp>
        <p:nvSpPr>
          <p:cNvPr id="11" name="Shape 7"/>
          <p:cNvSpPr/>
          <p:nvPr/>
        </p:nvSpPr>
        <p:spPr>
          <a:xfrm>
            <a:off x="4572000" y="2865001"/>
            <a:ext cx="3778210" cy="2395657"/>
          </a:xfrm>
          <a:prstGeom prst="rect">
            <a:avLst/>
          </a:prstGeom>
          <a:solidFill>
            <a:srgbClr val="F3F0C0"/>
          </a:solidFill>
          <a:ln/>
        </p:spPr>
      </p:sp>
      <p:sp>
        <p:nvSpPr>
          <p:cNvPr id="12" name="Shape 8"/>
          <p:cNvSpPr/>
          <p:nvPr/>
        </p:nvSpPr>
        <p:spPr>
          <a:xfrm>
            <a:off x="4572000" y="2865001"/>
            <a:ext cx="30480" cy="2395657"/>
          </a:xfrm>
          <a:prstGeom prst="roundRect">
            <a:avLst>
              <a:gd name="adj" fmla="val 111628"/>
            </a:avLst>
          </a:prstGeom>
          <a:solidFill>
            <a:srgbClr val="D9D6A6"/>
          </a:solidFill>
          <a:ln/>
        </p:spPr>
      </p:sp>
      <p:sp>
        <p:nvSpPr>
          <p:cNvPr id="13" name="Text 9"/>
          <p:cNvSpPr/>
          <p:nvPr/>
        </p:nvSpPr>
        <p:spPr>
          <a:xfrm>
            <a:off x="5081152" y="30918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  Speed &amp; Reliability</a:t>
            </a:r>
            <a:endParaRPr lang="en-US" sz="2200" dirty="0"/>
          </a:p>
        </p:txBody>
      </p:sp>
      <p:sp>
        <p:nvSpPr>
          <p:cNvPr id="14" name="Text 10"/>
          <p:cNvSpPr/>
          <p:nvPr/>
        </p:nvSpPr>
        <p:spPr>
          <a:xfrm>
            <a:off x="4798814" y="3582233"/>
            <a:ext cx="3324582" cy="1088708"/>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Parallel execution reduces test runtime and improves consistency of results.</a:t>
            </a:r>
            <a:endParaRPr lang="en-US" sz="1750" dirty="0"/>
          </a:p>
        </p:txBody>
      </p:sp>
      <p:sp>
        <p:nvSpPr>
          <p:cNvPr id="15" name="Shape 11"/>
          <p:cNvSpPr/>
          <p:nvPr/>
        </p:nvSpPr>
        <p:spPr>
          <a:xfrm>
            <a:off x="762870" y="5192672"/>
            <a:ext cx="7556421" cy="1669852"/>
          </a:xfrm>
          <a:prstGeom prst="rect">
            <a:avLst/>
          </a:prstGeom>
          <a:solidFill>
            <a:srgbClr val="F3F0C0"/>
          </a:solidFill>
          <a:ln/>
        </p:spPr>
      </p:sp>
      <p:sp>
        <p:nvSpPr>
          <p:cNvPr id="16" name="Shape 12"/>
          <p:cNvSpPr/>
          <p:nvPr/>
        </p:nvSpPr>
        <p:spPr>
          <a:xfrm>
            <a:off x="793790" y="5260658"/>
            <a:ext cx="7556421" cy="30480"/>
          </a:xfrm>
          <a:prstGeom prst="roundRect">
            <a:avLst>
              <a:gd name="adj" fmla="val 111628"/>
            </a:avLst>
          </a:prstGeom>
          <a:solidFill>
            <a:srgbClr val="D9D6A6"/>
          </a:solidFill>
          <a:ln/>
        </p:spPr>
      </p:sp>
      <p:sp>
        <p:nvSpPr>
          <p:cNvPr id="17" name="Text 13"/>
          <p:cNvSpPr/>
          <p:nvPr/>
        </p:nvSpPr>
        <p:spPr>
          <a:xfrm>
            <a:off x="1246001" y="552007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2821"/>
                </a:solidFill>
                <a:latin typeface="Prata" pitchFamily="34" charset="0"/>
                <a:ea typeface="Prata" pitchFamily="34" charset="-122"/>
                <a:cs typeface="Prata" pitchFamily="34" charset="-120"/>
              </a:rPr>
              <a:t>   Scalable by Design</a:t>
            </a:r>
            <a:endParaRPr lang="en-US" sz="2200" dirty="0"/>
          </a:p>
        </p:txBody>
      </p:sp>
      <p:sp>
        <p:nvSpPr>
          <p:cNvPr id="18" name="Text 14"/>
          <p:cNvSpPr/>
          <p:nvPr/>
        </p:nvSpPr>
        <p:spPr>
          <a:xfrm>
            <a:off x="1020604" y="5977890"/>
            <a:ext cx="7102793" cy="725805"/>
          </a:xfrm>
          <a:prstGeom prst="rect">
            <a:avLst/>
          </a:prstGeom>
          <a:noFill/>
          <a:ln/>
        </p:spPr>
        <p:txBody>
          <a:bodyPr wrap="square" lIns="0" tIns="0" rIns="0" bIns="0" rtlCol="0" anchor="t"/>
          <a:lstStyle/>
          <a:p>
            <a:pPr marL="0" indent="0" algn="l">
              <a:lnSpc>
                <a:spcPts val="2850"/>
              </a:lnSpc>
              <a:buNone/>
            </a:pPr>
            <a:r>
              <a:rPr lang="en-US" sz="1750" dirty="0">
                <a:solidFill>
                  <a:srgbClr val="2C2821"/>
                </a:solidFill>
                <a:latin typeface="PT Serif" pitchFamily="34" charset="0"/>
                <a:ea typeface="PT Serif" pitchFamily="34" charset="-122"/>
                <a:cs typeface="PT Serif" pitchFamily="34" charset="-120"/>
              </a:rPr>
              <a:t>Modular architecture and RESTful APIs allow easy extension across different test environments</a:t>
            </a:r>
            <a:endParaRPr lang="en-US" sz="1750" dirty="0"/>
          </a:p>
        </p:txBody>
      </p:sp>
      <p:pic>
        <p:nvPicPr>
          <p:cNvPr id="19" name="Picture 18">
            <a:extLst>
              <a:ext uri="{FF2B5EF4-FFF2-40B4-BE49-F238E27FC236}">
                <a16:creationId xmlns:a16="http://schemas.microsoft.com/office/drawing/2014/main" id="{92A5C2D9-4779-2A08-89A3-096238752586}"/>
              </a:ext>
            </a:extLst>
          </p:cNvPr>
          <p:cNvPicPr>
            <a:picLocks noChangeAspect="1"/>
          </p:cNvPicPr>
          <p:nvPr/>
        </p:nvPicPr>
        <p:blipFill>
          <a:blip r:embed="rId4"/>
          <a:stretch>
            <a:fillRect/>
          </a:stretch>
        </p:blipFill>
        <p:spPr>
          <a:xfrm>
            <a:off x="12901961" y="7351401"/>
            <a:ext cx="1640137" cy="800140"/>
          </a:xfrm>
          <a:prstGeom prst="rect">
            <a:avLst/>
          </a:prstGeom>
        </p:spPr>
      </p:pic>
      <p:pic>
        <p:nvPicPr>
          <p:cNvPr id="21" name="Picture 20">
            <a:extLst>
              <a:ext uri="{FF2B5EF4-FFF2-40B4-BE49-F238E27FC236}">
                <a16:creationId xmlns:a16="http://schemas.microsoft.com/office/drawing/2014/main" id="{54FB53ED-5EF8-9A09-BAEF-B18D55C154E5}"/>
              </a:ext>
            </a:extLst>
          </p:cNvPr>
          <p:cNvPicPr>
            <a:picLocks noChangeAspect="1"/>
          </p:cNvPicPr>
          <p:nvPr/>
        </p:nvPicPr>
        <p:blipFill>
          <a:blip r:embed="rId5"/>
          <a:stretch>
            <a:fillRect/>
          </a:stretch>
        </p:blipFill>
        <p:spPr>
          <a:xfrm>
            <a:off x="12328803" y="149948"/>
            <a:ext cx="2105319" cy="1362265"/>
          </a:xfrm>
          <a:prstGeom prst="rect">
            <a:avLst/>
          </a:prstGeom>
        </p:spPr>
      </p:pic>
      <p:pic>
        <p:nvPicPr>
          <p:cNvPr id="24" name="Picture 23">
            <a:extLst>
              <a:ext uri="{FF2B5EF4-FFF2-40B4-BE49-F238E27FC236}">
                <a16:creationId xmlns:a16="http://schemas.microsoft.com/office/drawing/2014/main" id="{98255957-7F75-8804-5E13-E32022FA2623}"/>
              </a:ext>
            </a:extLst>
          </p:cNvPr>
          <p:cNvPicPr>
            <a:picLocks noChangeAspect="1"/>
          </p:cNvPicPr>
          <p:nvPr/>
        </p:nvPicPr>
        <p:blipFill>
          <a:blip r:embed="rId6"/>
          <a:stretch>
            <a:fillRect/>
          </a:stretch>
        </p:blipFill>
        <p:spPr>
          <a:xfrm rot="10800000" flipV="1">
            <a:off x="954802" y="3081021"/>
            <a:ext cx="303291" cy="303291"/>
          </a:xfrm>
          <a:prstGeom prst="rect">
            <a:avLst/>
          </a:prstGeom>
        </p:spPr>
      </p:pic>
      <p:pic>
        <p:nvPicPr>
          <p:cNvPr id="26" name="Picture 25">
            <a:extLst>
              <a:ext uri="{FF2B5EF4-FFF2-40B4-BE49-F238E27FC236}">
                <a16:creationId xmlns:a16="http://schemas.microsoft.com/office/drawing/2014/main" id="{ACE3DB87-334E-DCE9-70E4-F2D832884B4E}"/>
              </a:ext>
            </a:extLst>
          </p:cNvPr>
          <p:cNvPicPr>
            <a:picLocks noChangeAspect="1"/>
          </p:cNvPicPr>
          <p:nvPr/>
        </p:nvPicPr>
        <p:blipFill>
          <a:blip r:embed="rId7">
            <a:extLst>
              <a:ext uri="{BEBA8EAE-BF5A-486C-A8C5-ECC9F3942E4B}">
                <a14:imgProps xmlns:a14="http://schemas.microsoft.com/office/drawing/2010/main">
                  <a14:imgLayer r:embed="rId8">
                    <a14:imgEffect>
                      <a14:colorTemperature colorTemp="11200"/>
                    </a14:imgEffect>
                    <a14:imgEffect>
                      <a14:brightnessContrast contrast="-40000"/>
                    </a14:imgEffect>
                  </a14:imgLayer>
                </a14:imgProps>
              </a:ext>
            </a:extLst>
          </a:blip>
          <a:stretch>
            <a:fillRect/>
          </a:stretch>
        </p:blipFill>
        <p:spPr>
          <a:xfrm>
            <a:off x="4713736" y="3060502"/>
            <a:ext cx="472481" cy="441998"/>
          </a:xfrm>
          <a:prstGeom prst="rect">
            <a:avLst/>
          </a:prstGeom>
        </p:spPr>
      </p:pic>
      <p:pic>
        <p:nvPicPr>
          <p:cNvPr id="28" name="Picture 27">
            <a:extLst>
              <a:ext uri="{FF2B5EF4-FFF2-40B4-BE49-F238E27FC236}">
                <a16:creationId xmlns:a16="http://schemas.microsoft.com/office/drawing/2014/main" id="{B19996DD-9FF5-9FDE-C54C-F3CF9CA17D26}"/>
              </a:ext>
            </a:extLst>
          </p:cNvPr>
          <p:cNvPicPr>
            <a:picLocks noChangeAspect="1"/>
          </p:cNvPicPr>
          <p:nvPr/>
        </p:nvPicPr>
        <p:blipFill>
          <a:blip r:embed="rId9"/>
          <a:stretch>
            <a:fillRect/>
          </a:stretch>
        </p:blipFill>
        <p:spPr>
          <a:xfrm>
            <a:off x="944916" y="5438239"/>
            <a:ext cx="392769" cy="3927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D571509-3334-1458-1543-0FB3C593F837}"/>
              </a:ext>
            </a:extLst>
          </p:cNvPr>
          <p:cNvPicPr>
            <a:picLocks noChangeAspect="1"/>
          </p:cNvPicPr>
          <p:nvPr/>
        </p:nvPicPr>
        <p:blipFill>
          <a:blip r:embed="rId2"/>
          <a:stretch>
            <a:fillRect/>
          </a:stretch>
        </p:blipFill>
        <p:spPr>
          <a:xfrm>
            <a:off x="12901961" y="7351401"/>
            <a:ext cx="1640137" cy="800140"/>
          </a:xfrm>
          <a:prstGeom prst="rect">
            <a:avLst/>
          </a:prstGeom>
        </p:spPr>
      </p:pic>
      <p:pic>
        <p:nvPicPr>
          <p:cNvPr id="3" name="Picture 2">
            <a:extLst>
              <a:ext uri="{FF2B5EF4-FFF2-40B4-BE49-F238E27FC236}">
                <a16:creationId xmlns:a16="http://schemas.microsoft.com/office/drawing/2014/main" id="{15754E31-16D4-52C9-1DD4-1B98F9F9BFFC}"/>
              </a:ext>
            </a:extLst>
          </p:cNvPr>
          <p:cNvPicPr>
            <a:picLocks noChangeAspect="1"/>
          </p:cNvPicPr>
          <p:nvPr/>
        </p:nvPicPr>
        <p:blipFill>
          <a:blip r:embed="rId3"/>
          <a:stretch>
            <a:fillRect/>
          </a:stretch>
        </p:blipFill>
        <p:spPr>
          <a:xfrm>
            <a:off x="12328803" y="149948"/>
            <a:ext cx="2105319" cy="1362265"/>
          </a:xfrm>
          <a:prstGeom prst="rect">
            <a:avLst/>
          </a:prstGeom>
        </p:spPr>
      </p:pic>
      <p:sp>
        <p:nvSpPr>
          <p:cNvPr id="4" name="Text 5">
            <a:extLst>
              <a:ext uri="{FF2B5EF4-FFF2-40B4-BE49-F238E27FC236}">
                <a16:creationId xmlns:a16="http://schemas.microsoft.com/office/drawing/2014/main" id="{77A385F7-236B-7124-4049-91EAE2F96F85}"/>
              </a:ext>
            </a:extLst>
          </p:cNvPr>
          <p:cNvSpPr/>
          <p:nvPr/>
        </p:nvSpPr>
        <p:spPr>
          <a:xfrm>
            <a:off x="874145" y="5932933"/>
            <a:ext cx="7772757" cy="38923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7650"/>
              </a:lnSpc>
              <a:buNone/>
            </a:pPr>
            <a:r>
              <a:rPr lang="en-US" sz="6100" dirty="0">
                <a:solidFill>
                  <a:srgbClr val="38512F"/>
                </a:solidFill>
                <a:latin typeface="Lora" pitchFamily="34" charset="0"/>
                <a:ea typeface="Lora" pitchFamily="34" charset="-122"/>
                <a:cs typeface="Lora" pitchFamily="34" charset="-120"/>
              </a:rPr>
              <a:t>Thank You</a:t>
            </a:r>
          </a:p>
        </p:txBody>
      </p:sp>
      <p:sp>
        <p:nvSpPr>
          <p:cNvPr id="5" name="Text 6">
            <a:extLst>
              <a:ext uri="{FF2B5EF4-FFF2-40B4-BE49-F238E27FC236}">
                <a16:creationId xmlns:a16="http://schemas.microsoft.com/office/drawing/2014/main" id="{392743E5-4C0F-C957-3DC5-D002CBED94D4}"/>
              </a:ext>
            </a:extLst>
          </p:cNvPr>
          <p:cNvSpPr/>
          <p:nvPr/>
        </p:nvSpPr>
        <p:spPr>
          <a:xfrm>
            <a:off x="1152684" y="6897799"/>
            <a:ext cx="12954952" cy="38302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000"/>
              </a:lnSpc>
              <a:buNone/>
            </a:pPr>
            <a:r>
              <a:rPr lang="en-US" sz="1850" dirty="0">
                <a:solidFill>
                  <a:srgbClr val="3A3630"/>
                </a:solidFill>
                <a:latin typeface="Palatino Linotype" panose="02040502050505030304" pitchFamily="18" charset="0"/>
                <a:ea typeface="Source Sans 3" pitchFamily="34" charset="-122"/>
                <a:cs typeface="Source Sans 3" pitchFamily="34" charset="-120"/>
              </a:rPr>
              <a:t>Mentor: </a:t>
            </a:r>
            <a:r>
              <a:rPr lang="en-US" sz="1850" b="1" dirty="0">
                <a:solidFill>
                  <a:srgbClr val="3A3630"/>
                </a:solidFill>
                <a:latin typeface="Palatino Linotype" panose="02040502050505030304" pitchFamily="18" charset="0"/>
                <a:ea typeface="Source Sans 3" pitchFamily="34" charset="-122"/>
                <a:cs typeface="Source Sans 3" pitchFamily="34" charset="-120"/>
              </a:rPr>
              <a:t>Joyce Nivetha</a:t>
            </a:r>
            <a:endParaRPr lang="en-US" sz="1850" dirty="0">
              <a:latin typeface="Palatino Linotype" panose="02040502050505030304" pitchFamily="18" charset="0"/>
            </a:endParaRPr>
          </a:p>
        </p:txBody>
      </p:sp>
      <p:sp>
        <p:nvSpPr>
          <p:cNvPr id="9" name="TextBox 8">
            <a:extLst>
              <a:ext uri="{FF2B5EF4-FFF2-40B4-BE49-F238E27FC236}">
                <a16:creationId xmlns:a16="http://schemas.microsoft.com/office/drawing/2014/main" id="{C0133895-EDA9-3CF5-5280-1C98063F7048}"/>
              </a:ext>
            </a:extLst>
          </p:cNvPr>
          <p:cNvSpPr txBox="1"/>
          <p:nvPr/>
        </p:nvSpPr>
        <p:spPr>
          <a:xfrm>
            <a:off x="3657600" y="3930134"/>
            <a:ext cx="7315200" cy="369332"/>
          </a:xfrm>
          <a:prstGeom prst="rect">
            <a:avLst/>
          </a:prstGeom>
          <a:noFill/>
        </p:spPr>
        <p:txBody>
          <a:bodyPr wrap="square">
            <a:spAutoFit/>
          </a:bodyPr>
          <a:lstStyle/>
          <a:p>
            <a:endParaRPr lang="en-IN" dirty="0"/>
          </a:p>
        </p:txBody>
      </p:sp>
      <p:pic>
        <p:nvPicPr>
          <p:cNvPr id="17" name="Picture 16">
            <a:extLst>
              <a:ext uri="{FF2B5EF4-FFF2-40B4-BE49-F238E27FC236}">
                <a16:creationId xmlns:a16="http://schemas.microsoft.com/office/drawing/2014/main" id="{B887D2C4-A0D0-F37D-7118-73956569A1A0}"/>
              </a:ext>
            </a:extLst>
          </p:cNvPr>
          <p:cNvPicPr>
            <a:picLocks noChangeAspect="1"/>
          </p:cNvPicPr>
          <p:nvPr/>
        </p:nvPicPr>
        <p:blipFill>
          <a:blip r:embed="rId4"/>
          <a:stretch>
            <a:fillRect/>
          </a:stretch>
        </p:blipFill>
        <p:spPr>
          <a:xfrm>
            <a:off x="874145" y="701218"/>
            <a:ext cx="9097804" cy="5077844"/>
          </a:xfrm>
          <a:prstGeom prst="rect">
            <a:avLst/>
          </a:prstGeom>
        </p:spPr>
      </p:pic>
    </p:spTree>
    <p:extLst>
      <p:ext uri="{BB962C8B-B14F-4D97-AF65-F5344CB8AC3E}">
        <p14:creationId xmlns:p14="http://schemas.microsoft.com/office/powerpoint/2010/main" val="1884274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611</Words>
  <Application>Microsoft Office PowerPoint</Application>
  <PresentationFormat>Custom</PresentationFormat>
  <Paragraphs>99</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Prata</vt:lpstr>
      <vt:lpstr>Palatino Linotype</vt:lpstr>
      <vt:lpstr>PT Serif</vt:lpstr>
      <vt:lpstr>Lora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Kavya Teegala</dc:creator>
  <cp:lastModifiedBy>Kavya Teegala</cp:lastModifiedBy>
  <cp:revision>2</cp:revision>
  <dcterms:created xsi:type="dcterms:W3CDTF">2026-04-08T09:07:33Z</dcterms:created>
  <dcterms:modified xsi:type="dcterms:W3CDTF">2026-04-08T10:30:57Z</dcterms:modified>
</cp:coreProperties>
</file>